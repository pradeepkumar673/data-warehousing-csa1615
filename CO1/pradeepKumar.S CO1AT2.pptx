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metadata/core-properties" Target="docProps/core0.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sldIdLst>
    <p:sldId id="256" r:id="rId2"/>
    <p:sldId id="257" r:id="rId3"/>
    <p:sldId id="259" r:id="rId4"/>
    <p:sldId id="260" r:id="rId5"/>
    <p:sldId id="258" r:id="rId6"/>
    <p:sldId id="261" r:id="rId7"/>
    <p:sldId id="271" r:id="rId8"/>
    <p:sldId id="264" r:id="rId9"/>
    <p:sldId id="268" r:id="rId10"/>
    <p:sldId id="265" r:id="rId11"/>
    <p:sldId id="266" r:id="rId12"/>
    <p:sldId id="276" r:id="rId13"/>
    <p:sldId id="277" r:id="rId14"/>
  </p:sldIdLst>
  <p:sldSz cx="12193588"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20"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096364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Good morning. My topic is Operational Systems versus Decision Support Systems, which means OLTP versus OLAP. I will explain what each one is, how they differ, and how data moves from one to the other.</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flow: first the two concepts, then the differences, then how they connect, then examples, and finally the conclusion.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Think of a shop. The billing counter records sales, which is operational. The owner studying monthly sales to plan stock is decision support. We keep them separate so that billing stays fast.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OLTP is about speed and correctness. ACID makes sure that, for example, in a bank transfer the money is either moved fully or not at all.</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DSS is about understanding. Analysts look at data from different angles. The four OLAP operations are the basic ways of moving around the data cube.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table is the main takeaway. If it is about recording one event, it is OLTP. If it is about studying many events over time, it is OLAP.</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are typical textbook characteristics. The demo slide later shows the same pattern on a small sample.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Read from left to right. Operational databases record transactions. ETL extracts, cleans and loads data into the warehouse. The OLAP server builds cubes and BI tools show reports and dashboards to decision makers.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six steps show how raw transactions become decisions. Extract, Transform and Load together are called ETL.</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same business uses both systems. In a bank, the ATM uses OLTP while the management team uses OLAP to study customer profit and fraud trends.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 ran both queries in SQLite on sample data. The transfer touches two rows and finishes instantly. The sales query scans 200,000 rows and summarizes them. The timings are only from a small sample, but they show the difference in workload.</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books and papers are the sources used for this presentation.</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Thank you. I am happy to answer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Default">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lstStyle/>
          <a:p>
            <a:r>
              <a:t>Footer</a:t>
            </a:r>
          </a:p>
        </p:txBody>
      </p:sp>
      <p:sp>
        <p:nvSpPr>
          <p:cNvPr id="3" name="PlaceHolder 2"/>
          <p:cNvSpPr>
            <a:spLocks noGrp="1"/>
          </p:cNvSpPr>
          <p:nvPr>
            <p:ph type="sldNum" idx="3"/>
          </p:nvPr>
        </p:nvSpPr>
        <p:spPr/>
        <p:txBody>
          <a:bodyPr/>
          <a:lstStyle/>
          <a:p>
            <a:fld id="{2C97297B-A0AB-46EF-9C06-099A245F6EA0}" type="slidenum">
              <a:t>‹#›</a:t>
            </a:fld>
            <a:endParaRPr/>
          </a:p>
        </p:txBody>
      </p:sp>
      <p:sp>
        <p:nvSpPr>
          <p:cNvPr id="4" name="PlaceHolder 3"/>
          <p:cNvSpPr>
            <a:spLocks noGrp="1"/>
          </p:cNvSpPr>
          <p:nvPr>
            <p:ph type="dt" idx="1"/>
          </p:nvPr>
        </p:nvSpPr>
        <p:spPr/>
        <p:txBody>
          <a:body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838080" y="365040"/>
            <a:ext cx="10515600" cy="1325520"/>
          </a:xfrm>
          <a:prstGeom prst="rect">
            <a:avLst/>
          </a:prstGeom>
          <a:noFill/>
          <a:ln w="0">
            <a:noFill/>
          </a:ln>
        </p:spPr>
        <p:txBody>
          <a:bodyPr lIns="90000" tIns="46800" rIns="90000" bIns="46800" anchor="ctr">
            <a:noAutofit/>
          </a:bodyPr>
          <a:lstStyle/>
          <a:p>
            <a:pPr indent="0">
              <a:lnSpc>
                <a:spcPct val="9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b="0" strike="noStrike" spc="-1">
                <a:solidFill>
                  <a:srgbClr val="000000"/>
                </a:solidFill>
                <a:latin typeface="Calibri Light"/>
              </a:rPr>
              <a:t>Click to edit the title text format</a:t>
            </a:r>
          </a:p>
        </p:txBody>
      </p:sp>
      <p:sp>
        <p:nvSpPr>
          <p:cNvPr id="6" name="PlaceHolder 2"/>
          <p:cNvSpPr>
            <a:spLocks noGrp="1"/>
          </p:cNvSpPr>
          <p:nvPr>
            <p:ph type="body"/>
          </p:nvPr>
        </p:nvSpPr>
        <p:spPr>
          <a:xfrm>
            <a:off x="838080" y="1825200"/>
            <a:ext cx="10515600" cy="4351320"/>
          </a:xfrm>
          <a:prstGeom prst="rect">
            <a:avLst/>
          </a:prstGeom>
          <a:noFill/>
          <a:ln w="0">
            <a:noFill/>
          </a:ln>
        </p:spPr>
        <p:txBody>
          <a:bodyPr lIns="90000" tIns="46800" rIns="90000" bIns="46800" anchor="t">
            <a:normAutofit/>
          </a:bodyPr>
          <a:lstStyle/>
          <a:p>
            <a:pPr marL="228600" indent="-228600">
              <a:lnSpc>
                <a:spcPct val="90000"/>
              </a:lnSpc>
              <a:spcBef>
                <a:spcPts val="10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strike="noStrike" spc="-1">
                <a:solidFill>
                  <a:srgbClr val="000000"/>
                </a:solidFill>
                <a:latin typeface="Calibri"/>
              </a:rPr>
              <a:t>Click to edit the outline text format</a:t>
            </a:r>
          </a:p>
          <a:p>
            <a:pPr marL="685800" lvl="1" indent="-228600">
              <a:lnSpc>
                <a:spcPct val="90000"/>
              </a:lnSpc>
              <a:spcBef>
                <a:spcPts val="10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strike="noStrike" spc="-1">
                <a:solidFill>
                  <a:srgbClr val="000000"/>
                </a:solidFill>
                <a:latin typeface="Calibri"/>
              </a:rPr>
              <a:t>Second Outline Level</a:t>
            </a:r>
          </a:p>
          <a:p>
            <a:pPr marL="1143000" lvl="2" indent="-228600">
              <a:lnSpc>
                <a:spcPct val="90000"/>
              </a:lnSpc>
              <a:spcBef>
                <a:spcPts val="10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strike="noStrike" spc="-1">
                <a:solidFill>
                  <a:srgbClr val="000000"/>
                </a:solidFill>
                <a:latin typeface="Calibri"/>
              </a:rPr>
              <a:t>Third Outline Level</a:t>
            </a:r>
          </a:p>
          <a:p>
            <a:pPr marL="1600200" lvl="3" indent="-228600">
              <a:lnSpc>
                <a:spcPct val="90000"/>
              </a:lnSpc>
              <a:spcBef>
                <a:spcPts val="10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strike="noStrike" spc="-1">
                <a:solidFill>
                  <a:srgbClr val="000000"/>
                </a:solidFill>
                <a:latin typeface="Calibri"/>
              </a:rPr>
              <a:t>Fourth Outline Level</a:t>
            </a:r>
          </a:p>
          <a:p>
            <a:pPr marL="2057400" lvl="4" indent="-228600">
              <a:lnSpc>
                <a:spcPct val="90000"/>
              </a:lnSpc>
              <a:spcBef>
                <a:spcPts val="10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strike="noStrike" spc="-1">
                <a:solidFill>
                  <a:srgbClr val="000000"/>
                </a:solidFill>
                <a:latin typeface="Calibri"/>
              </a:rPr>
              <a:t>Fifth Outline Level</a:t>
            </a:r>
          </a:p>
          <a:p>
            <a:pPr marL="2057400" lvl="5" indent="-228600">
              <a:lnSpc>
                <a:spcPct val="90000"/>
              </a:lnSpc>
              <a:spcBef>
                <a:spcPts val="10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strike="noStrike" spc="-1">
                <a:solidFill>
                  <a:srgbClr val="000000"/>
                </a:solidFill>
                <a:latin typeface="Calibri"/>
              </a:rPr>
              <a:t>Sixth Outline Level</a:t>
            </a:r>
          </a:p>
          <a:p>
            <a:pPr marL="2057400" lvl="6" indent="-228600">
              <a:lnSpc>
                <a:spcPct val="90000"/>
              </a:lnSpc>
              <a:spcBef>
                <a:spcPts val="1001"/>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strike="noStrike" spc="-1">
                <a:solidFill>
                  <a:srgbClr val="000000"/>
                </a:solidFill>
                <a:latin typeface="Calibri"/>
              </a:rPr>
              <a:t>Seventh Outline Level</a:t>
            </a:r>
          </a:p>
        </p:txBody>
      </p:sp>
      <p:sp>
        <p:nvSpPr>
          <p:cNvPr id="2" name="PlaceHolder 3"/>
          <p:cNvSpPr>
            <a:spLocks noGrp="1"/>
          </p:cNvSpPr>
          <p:nvPr>
            <p:ph type="dt" idx="1"/>
          </p:nvPr>
        </p:nvSpPr>
        <p:spPr>
          <a:xfrm>
            <a:off x="838080" y="6356520"/>
            <a:ext cx="2743200" cy="365040"/>
          </a:xfrm>
          <a:prstGeom prst="rect">
            <a:avLst/>
          </a:prstGeom>
          <a:noFill/>
          <a:ln w="0">
            <a:noFill/>
          </a:ln>
        </p:spPr>
        <p:txBody>
          <a:bodyPr lIns="90000" tIns="46800" rIns="90000" bIns="46800" anchor="ctr">
            <a:noAutofit/>
          </a:bodyPr>
          <a:lstStyle>
            <a:lvl1pPr inden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en-US" sz="1200" b="0" strike="noStrike" spc="-1">
                <a:solidFill>
                  <a:srgbClr val="898989"/>
                </a:solidFill>
                <a:latin typeface="Calibri"/>
              </a:defRPr>
            </a:lvl1pPr>
          </a:lstStyle>
          <a:p>
            <a:pPr inden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strike="noStrike" spc="-1">
                <a:solidFill>
                  <a:srgbClr val="898989"/>
                </a:solidFill>
                <a:latin typeface="Calibri"/>
              </a:rPr>
              <a:t>3/27/2025</a:t>
            </a:r>
            <a:endParaRPr lang="en-US" sz="1200" b="0" strike="noStrike" spc="-1">
              <a:solidFill>
                <a:srgbClr val="000000"/>
              </a:solidFill>
              <a:latin typeface="Calibri"/>
            </a:endParaRPr>
          </a:p>
        </p:txBody>
      </p:sp>
      <p:sp>
        <p:nvSpPr>
          <p:cNvPr id="3" name="PlaceHolder 4"/>
          <p:cNvSpPr>
            <a:spLocks noGrp="1"/>
          </p:cNvSpPr>
          <p:nvPr>
            <p:ph type="ftr" idx="2"/>
          </p:nvPr>
        </p:nvSpPr>
        <p:spPr>
          <a:xfrm>
            <a:off x="4038480" y="6356520"/>
            <a:ext cx="4114800" cy="365040"/>
          </a:xfrm>
          <a:prstGeom prst="rect">
            <a:avLst/>
          </a:prstGeom>
          <a:noFill/>
          <a:ln w="0">
            <a:noFill/>
          </a:ln>
        </p:spPr>
        <p:txBody>
          <a:bodyPr lIns="90000" tIns="46800" rIns="90000" bIns="46800" anchor="ctr">
            <a:noAutofit/>
          </a:bodyPr>
          <a:lstStyle>
            <a:lvl1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en-US" sz="1200" b="0" strike="noStrike" spc="-1">
                <a:solidFill>
                  <a:srgbClr val="898989"/>
                </a:solidFill>
                <a:latin typeface="Calibri"/>
              </a:defRPr>
            </a:lvl1pPr>
          </a:lstStyle>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strike="noStrike" spc="-1">
                <a:solidFill>
                  <a:srgbClr val="898989"/>
                </a:solidFill>
                <a:latin typeface="Calibri"/>
              </a:rPr>
              <a:t>CAPSTONE PROJECT </a:t>
            </a:r>
            <a:endParaRPr lang="en-US" sz="1200" b="0" strike="noStrike" spc="-1">
              <a:solidFill>
                <a:srgbClr val="000000"/>
              </a:solidFill>
              <a:latin typeface="Calibri"/>
            </a:endParaRPr>
          </a:p>
        </p:txBody>
      </p:sp>
      <p:sp>
        <p:nvSpPr>
          <p:cNvPr id="4" name="PlaceHolder 5"/>
          <p:cNvSpPr>
            <a:spLocks noGrp="1"/>
          </p:cNvSpPr>
          <p:nvPr>
            <p:ph type="sldNum" idx="3"/>
          </p:nvPr>
        </p:nvSpPr>
        <p:spPr>
          <a:xfrm>
            <a:off x="8610480" y="6356520"/>
            <a:ext cx="2743200" cy="365040"/>
          </a:xfrm>
          <a:prstGeom prst="rect">
            <a:avLst/>
          </a:prstGeom>
          <a:noFill/>
          <a:ln w="0">
            <a:noFill/>
          </a:ln>
        </p:spPr>
        <p:txBody>
          <a:bodyPr lIns="90000" tIns="46800" rIns="90000" bIns="46800" anchor="ctr">
            <a:noAutofit/>
          </a:bodyPr>
          <a:lstStyle>
            <a:lvl1pPr indent="0" algn="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en-US" sz="1200" b="0" strike="noStrike" spc="-1">
                <a:solidFill>
                  <a:srgbClr val="898989"/>
                </a:solidFill>
                <a:latin typeface="Calibri"/>
              </a:defRPr>
            </a:lvl1pPr>
          </a:lstStyle>
          <a:p>
            <a:pPr indent="0" algn="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711E8F66-3841-4077-A72F-F04FC2029FD0}" type="slidenum">
              <a:rPr lang="en-US" sz="1200" b="0" strike="noStrike" spc="-1">
                <a:solidFill>
                  <a:srgbClr val="898989"/>
                </a:solidFill>
                <a:latin typeface="Calibri"/>
              </a:rPr>
              <a:t>‹#›</a:t>
            </a:fld>
            <a:endParaRPr lang="en-US" sz="12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laceHolder 1"/>
          <p:cNvSpPr>
            <a:spLocks noGrp="1"/>
          </p:cNvSpPr>
          <p:nvPr>
            <p:ph type="title"/>
          </p:nvPr>
        </p:nvSpPr>
        <p:spPr>
          <a:xfrm>
            <a:off x="817560" y="2696760"/>
            <a:ext cx="10431360" cy="1033560"/>
          </a:xfrm>
          <a:prstGeom prst="rect">
            <a:avLst/>
          </a:prstGeom>
          <a:noFill/>
          <a:ln w="0">
            <a:noFill/>
          </a:ln>
        </p:spPr>
        <p:txBody>
          <a:bodyPr lIns="91440" tIns="45720" rIns="91440" bIns="45720" anchor="b">
            <a:noAutofit/>
          </a:bodyPr>
          <a:lstStyle/>
          <a:p>
            <a:pPr indent="0" algn="ctr">
              <a:lnSpc>
                <a:spcPct val="9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000" b="0" strike="noStrike" spc="-1">
                <a:solidFill>
                  <a:srgbClr val="000000"/>
                </a:solidFill>
                <a:latin typeface="Times New Roman"/>
                <a:ea typeface="Times New Roman"/>
              </a:rPr>
              <a:t>OPERATIONAL SYSTEMS vs DECISION SUPPORT SYSTEMS (OLTP vs OLAP)</a:t>
            </a:r>
            <a:endParaRPr lang="en-US" sz="8000" b="0" strike="noStrike" spc="-1">
              <a:solidFill>
                <a:srgbClr val="000000"/>
              </a:solidFill>
              <a:latin typeface="Calibri Light"/>
            </a:endParaRPr>
          </a:p>
        </p:txBody>
      </p:sp>
      <p:sp>
        <p:nvSpPr>
          <p:cNvPr id="6" name="PlaceHolder 2"/>
          <p:cNvSpPr>
            <a:spLocks noGrp="1"/>
          </p:cNvSpPr>
          <p:nvPr>
            <p:ph type="subTitle"/>
          </p:nvPr>
        </p:nvSpPr>
        <p:spPr>
          <a:xfrm>
            <a:off x="349200" y="4246560"/>
            <a:ext cx="11414160" cy="2021040"/>
          </a:xfrm>
          <a:prstGeom prst="rect">
            <a:avLst/>
          </a:prstGeom>
          <a:noFill/>
          <a:ln w="0">
            <a:noFill/>
          </a:ln>
        </p:spPr>
        <p:txBody>
          <a:bodyPr lIns="91440" tIns="45720" rIns="91440" bIns="45720" anchor="t">
            <a:noAutofit/>
          </a:bodyPr>
          <a:lstStyle/>
          <a:p>
            <a:pPr indent="0" algn="ctr">
              <a:lnSpc>
                <a:spcPct val="80000"/>
              </a:lnSpc>
              <a:spcBef>
                <a:spcPts val="100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200" b="1" spc="-1" dirty="0">
                <a:solidFill>
                  <a:srgbClr val="FF0000"/>
                </a:solidFill>
                <a:latin typeface="Times New Roman"/>
              </a:rPr>
              <a:t>PradeepKumar. S</a:t>
            </a:r>
            <a:endParaRPr lang="en-US" sz="2200" b="0" strike="noStrike" spc="-1" dirty="0">
              <a:solidFill>
                <a:srgbClr val="FF0000"/>
              </a:solidFill>
              <a:latin typeface="Calibri"/>
            </a:endParaRPr>
          </a:p>
          <a:p>
            <a:pPr indent="0" algn="ctr">
              <a:lnSpc>
                <a:spcPct val="80000"/>
              </a:lnSpc>
              <a:spcBef>
                <a:spcPts val="100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200" b="1" strike="noStrike" spc="-1" dirty="0">
                <a:solidFill>
                  <a:srgbClr val="000000"/>
                </a:solidFill>
                <a:latin typeface="Times New Roman"/>
                <a:ea typeface="Times New Roman"/>
              </a:rPr>
              <a:t>REGISTER NO. : 192425016</a:t>
            </a:r>
            <a:endParaRPr lang="en-US" sz="2200" b="0" strike="noStrike" spc="-1" dirty="0">
              <a:solidFill>
                <a:srgbClr val="000000"/>
              </a:solidFill>
              <a:latin typeface="Calibri"/>
            </a:endParaRPr>
          </a:p>
          <a:p>
            <a:pPr indent="0" algn="ctr">
              <a:lnSpc>
                <a:spcPct val="80000"/>
              </a:lnSpc>
              <a:spcBef>
                <a:spcPts val="100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200" b="1" strike="noStrike" spc="-1" dirty="0">
                <a:solidFill>
                  <a:srgbClr val="000000"/>
                </a:solidFill>
                <a:latin typeface="Times New Roman"/>
                <a:ea typeface="Times New Roman"/>
              </a:rPr>
              <a:t>CSA1615 DATA WAREHOUSING AND DATA MINING</a:t>
            </a:r>
            <a:endParaRPr lang="en-US" sz="2200" b="0" strike="noStrike" spc="-1" dirty="0">
              <a:solidFill>
                <a:srgbClr val="000000"/>
              </a:solidFill>
              <a:latin typeface="Calibri"/>
            </a:endParaRPr>
          </a:p>
          <a:p>
            <a:pPr indent="0" algn="ctr">
              <a:lnSpc>
                <a:spcPct val="80000"/>
              </a:lnSpc>
              <a:spcBef>
                <a:spcPts val="100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200" b="1" strike="noStrike" spc="-1" dirty="0">
                <a:solidFill>
                  <a:srgbClr val="000000"/>
                </a:solidFill>
                <a:latin typeface="Times New Roman"/>
                <a:ea typeface="Times New Roman"/>
              </a:rPr>
              <a:t>Course Faculty : </a:t>
            </a:r>
            <a:r>
              <a:rPr lang="en-US" sz="2200" b="0" strike="noStrike" spc="-1" dirty="0">
                <a:solidFill>
                  <a:srgbClr val="000000"/>
                </a:solidFill>
                <a:latin typeface="Times New Roman"/>
                <a:ea typeface="Times New Roman"/>
              </a:rPr>
              <a:t>Dr. Terrance Frederick Fernandez, </a:t>
            </a:r>
            <a:endParaRPr lang="en-US" sz="2200" b="0" strike="noStrike" spc="-1" dirty="0">
              <a:solidFill>
                <a:srgbClr val="000000"/>
              </a:solidFill>
              <a:latin typeface="Calibri"/>
            </a:endParaRPr>
          </a:p>
          <a:p>
            <a:pPr indent="0" algn="ctr">
              <a:lnSpc>
                <a:spcPct val="80000"/>
              </a:lnSpc>
              <a:spcBef>
                <a:spcPts val="100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strike="noStrike" spc="-1" dirty="0">
                <a:solidFill>
                  <a:srgbClr val="000000"/>
                </a:solidFill>
                <a:latin typeface="Times New Roman"/>
                <a:ea typeface="Times New Roman"/>
              </a:rPr>
              <a:t>Professor, SIMATS Engineering, SIMATS</a:t>
            </a:r>
            <a:endParaRPr lang="en-US" sz="1800" b="0" strike="noStrike" spc="-1" dirty="0">
              <a:solidFill>
                <a:srgbClr val="000000"/>
              </a:solidFill>
              <a:latin typeface="Calibri"/>
            </a:endParaRPr>
          </a:p>
        </p:txBody>
      </p:sp>
      <p:pic>
        <p:nvPicPr>
          <p:cNvPr id="7" name="image3.png" descr="C:\Users\ADMIN\AppData\Local\Microsoft\Windows\INetCache\Content.MSO\C29DB0A6.tmp"/>
          <p:cNvPicPr/>
          <p:nvPr/>
        </p:nvPicPr>
        <p:blipFill>
          <a:blip r:embed="rId3"/>
          <a:stretch/>
        </p:blipFill>
        <p:spPr>
          <a:xfrm>
            <a:off x="1027080" y="441360"/>
            <a:ext cx="10037880" cy="1030320"/>
          </a:xfrm>
          <a:prstGeom prst="rect">
            <a:avLst/>
          </a:prstGeom>
          <a:ln w="0">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PlaceHolder 1"/>
          <p:cNvSpPr>
            <a:spLocks noGrp="1"/>
          </p:cNvSpPr>
          <p:nvPr>
            <p:ph type="title"/>
          </p:nvPr>
        </p:nvSpPr>
        <p:spPr>
          <a:xfrm>
            <a:off x="838080" y="665280"/>
            <a:ext cx="10515600" cy="1025280"/>
          </a:xfrm>
          <a:prstGeom prst="rect">
            <a:avLst/>
          </a:prstGeom>
          <a:noFill/>
          <a:ln w="0">
            <a:noFill/>
          </a:ln>
        </p:spPr>
        <p:txBody>
          <a:bodyPr lIns="91440" tIns="45720" rIns="91440" bIns="45720" anchor="ctr">
            <a:noAutofit/>
          </a:bodyPr>
          <a:lstStyle/>
          <a:p>
            <a:pPr indent="0" algn="ctr">
              <a:lnSpc>
                <a:spcPct val="9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b="0" strike="noStrike" spc="-1">
                <a:solidFill>
                  <a:srgbClr val="000000"/>
                </a:solidFill>
                <a:latin typeface="Times New Roman"/>
                <a:ea typeface="Times New Roman"/>
              </a:rPr>
              <a:t>AGENDA </a:t>
            </a:r>
            <a:endParaRPr lang="en-US" sz="4400" b="0" strike="noStrike" spc="-1">
              <a:solidFill>
                <a:srgbClr val="000000"/>
              </a:solidFill>
              <a:latin typeface="Calibri Light"/>
            </a:endParaRPr>
          </a:p>
        </p:txBody>
      </p:sp>
      <p:sp>
        <p:nvSpPr>
          <p:cNvPr id="9" name="TextBox 8"/>
          <p:cNvSpPr txBox="1"/>
          <p:nvPr/>
        </p:nvSpPr>
        <p:spPr>
          <a:xfrm>
            <a:off x="838080" y="1825200"/>
            <a:ext cx="10515600" cy="4351320"/>
          </a:xfrm>
          <a:prstGeom prst="rect">
            <a:avLst/>
          </a:prstGeom>
          <a:noFill/>
          <a:ln w="0">
            <a:noFill/>
          </a:ln>
        </p:spPr>
        <p:txBody>
          <a:bodyPr anchor="t">
            <a:normAutofit/>
          </a:bodyPr>
          <a:lstStyle/>
          <a:p>
            <a:pPr marL="228600" indent="-228600">
              <a:lnSpc>
                <a:spcPct val="110000"/>
              </a:lnSpc>
              <a:spcBef>
                <a:spcPts val="900"/>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200" b="0" strike="noStrike" spc="-1">
                <a:solidFill>
                  <a:srgbClr val="000000"/>
                </a:solidFill>
                <a:latin typeface="Times New Roman"/>
                <a:ea typeface="Times New Roman"/>
              </a:rPr>
              <a:t>Introduction</a:t>
            </a:r>
            <a:endParaRPr lang="en-US" sz="2200" b="0" strike="noStrike" spc="-1">
              <a:solidFill>
                <a:srgbClr val="000000"/>
              </a:solidFill>
              <a:latin typeface="Calibri"/>
            </a:endParaRPr>
          </a:p>
          <a:p>
            <a:pPr marL="228600" indent="-228600">
              <a:lnSpc>
                <a:spcPct val="110000"/>
              </a:lnSpc>
              <a:spcBef>
                <a:spcPts val="900"/>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200" b="0" strike="noStrike" spc="-1">
                <a:solidFill>
                  <a:srgbClr val="000000"/>
                </a:solidFill>
                <a:latin typeface="Times New Roman"/>
                <a:ea typeface="Times New Roman"/>
              </a:rPr>
              <a:t>Operational Systems (OLTP)</a:t>
            </a:r>
            <a:endParaRPr lang="en-US" sz="2200" b="0" strike="noStrike" spc="-1">
              <a:solidFill>
                <a:srgbClr val="000000"/>
              </a:solidFill>
              <a:latin typeface="Calibri"/>
            </a:endParaRPr>
          </a:p>
          <a:p>
            <a:pPr marL="228600" indent="-228600">
              <a:lnSpc>
                <a:spcPct val="110000"/>
              </a:lnSpc>
              <a:spcBef>
                <a:spcPts val="900"/>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200" b="0" strike="noStrike" spc="-1">
                <a:solidFill>
                  <a:srgbClr val="000000"/>
                </a:solidFill>
                <a:latin typeface="Times New Roman"/>
                <a:ea typeface="Times New Roman"/>
              </a:rPr>
              <a:t>Decision Support Systems (OLAP)</a:t>
            </a:r>
            <a:endParaRPr lang="en-US" sz="2200" b="0" strike="noStrike" spc="-1">
              <a:solidFill>
                <a:srgbClr val="000000"/>
              </a:solidFill>
              <a:latin typeface="Calibri"/>
            </a:endParaRPr>
          </a:p>
          <a:p>
            <a:pPr marL="228600" indent="-228600">
              <a:lnSpc>
                <a:spcPct val="110000"/>
              </a:lnSpc>
              <a:spcBef>
                <a:spcPts val="900"/>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200" b="0" strike="noStrike" spc="-1">
                <a:solidFill>
                  <a:srgbClr val="000000"/>
                </a:solidFill>
                <a:latin typeface="Times New Roman"/>
                <a:ea typeface="Times New Roman"/>
              </a:rPr>
              <a:t>Key Differences and Performance Comparison</a:t>
            </a:r>
            <a:endParaRPr lang="en-US" sz="2200" b="0" strike="noStrike" spc="-1">
              <a:solidFill>
                <a:srgbClr val="000000"/>
              </a:solidFill>
              <a:latin typeface="Calibri"/>
            </a:endParaRPr>
          </a:p>
          <a:p>
            <a:pPr marL="228600" indent="-228600">
              <a:lnSpc>
                <a:spcPct val="110000"/>
              </a:lnSpc>
              <a:spcBef>
                <a:spcPts val="900"/>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200" b="0" strike="noStrike" spc="-1">
                <a:solidFill>
                  <a:srgbClr val="000000"/>
                </a:solidFill>
                <a:latin typeface="Times New Roman"/>
                <a:ea typeface="Times New Roman"/>
              </a:rPr>
              <a:t>Architecture and Step-by-Step Data Flow</a:t>
            </a:r>
            <a:endParaRPr lang="en-US" sz="2200" b="0" strike="noStrike" spc="-1">
              <a:solidFill>
                <a:srgbClr val="000000"/>
              </a:solidFill>
              <a:latin typeface="Calibri"/>
            </a:endParaRPr>
          </a:p>
          <a:p>
            <a:pPr marL="228600" indent="-228600">
              <a:lnSpc>
                <a:spcPct val="110000"/>
              </a:lnSpc>
              <a:spcBef>
                <a:spcPts val="900"/>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200" b="0" strike="noStrike" spc="-1">
                <a:solidFill>
                  <a:srgbClr val="000000"/>
                </a:solidFill>
                <a:latin typeface="Times New Roman"/>
                <a:ea typeface="Times New Roman"/>
              </a:rPr>
              <a:t>Use Cases, Case Study and Demo</a:t>
            </a:r>
            <a:endParaRPr lang="en-US" sz="2200" b="0" strike="noStrike" spc="-1">
              <a:solidFill>
                <a:srgbClr val="000000"/>
              </a:solidFill>
              <a:latin typeface="Calibri"/>
            </a:endParaRPr>
          </a:p>
          <a:p>
            <a:pPr marL="228600" indent="-228600">
              <a:lnSpc>
                <a:spcPct val="110000"/>
              </a:lnSpc>
              <a:spcBef>
                <a:spcPts val="900"/>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200" b="0" strike="noStrike" spc="-1">
                <a:solidFill>
                  <a:srgbClr val="000000"/>
                </a:solidFill>
                <a:latin typeface="Times New Roman"/>
                <a:ea typeface="Times New Roman"/>
              </a:rPr>
              <a:t>Conclusion and Future Scope</a:t>
            </a:r>
            <a:endParaRPr lang="en-US" sz="2200" b="0" strike="noStrike" spc="-1">
              <a:solidFill>
                <a:srgbClr val="000000"/>
              </a:solidFill>
              <a:latin typeface="Calibri"/>
            </a:endParaRPr>
          </a:p>
        </p:txBody>
      </p:sp>
      <p:pic>
        <p:nvPicPr>
          <p:cNvPr id="10" name="image3.png" descr="C:\Users\ADMIN\AppData\Local\Microsoft\Windows\INetCache\Content.MSO\C29DB0A6.tmp"/>
          <p:cNvPicPr/>
          <p:nvPr/>
        </p:nvPicPr>
        <p:blipFill>
          <a:blip r:embed="rId3"/>
          <a:stretch/>
        </p:blipFill>
        <p:spPr>
          <a:xfrm>
            <a:off x="2916360" y="52560"/>
            <a:ext cx="5313240" cy="544320"/>
          </a:xfrm>
          <a:prstGeom prst="rect">
            <a:avLst/>
          </a:prstGeom>
          <a:ln w="0">
            <a:noFill/>
          </a:ln>
        </p:spPr>
      </p:pic>
      <p:sp>
        <p:nvSpPr>
          <p:cNvPr id="11" name="Footer Placeholder 6"/>
          <p:cNvSpPr/>
          <p:nvPr/>
        </p:nvSpPr>
        <p:spPr>
          <a:xfrm>
            <a:off x="4038480" y="6356520"/>
            <a:ext cx="411480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strike="noStrike" spc="-1">
                <a:solidFill>
                  <a:srgbClr val="898989"/>
                </a:solidFill>
                <a:latin typeface="Calibri"/>
              </a:rPr>
              <a:t>DATA WAREHOUSING AND DATA MINING</a:t>
            </a:r>
            <a:endParaRPr lang="en-US" sz="1200" b="0" strike="noStrike" spc="-1">
              <a:solidFill>
                <a:srgbClr val="000000"/>
              </a:solidFill>
              <a:latin typeface="Calibri"/>
            </a:endParaRPr>
          </a:p>
        </p:txBody>
      </p:sp>
      <p:sp>
        <p:nvSpPr>
          <p:cNvPr id="12" name="Slide Number Placeholder 7"/>
          <p:cNvSpPr/>
          <p:nvPr/>
        </p:nvSpPr>
        <p:spPr>
          <a:xfrm>
            <a:off x="8610480" y="6356520"/>
            <a:ext cx="274320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rmAutofit/>
          </a:bodyPr>
          <a:lstStyle/>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CFE65F36-796E-4557-BFA3-2CE0A4390AF5}" type="slidenum">
              <a:rPr lang="en-US" sz="1200" b="0" strike="noStrike" spc="-1">
                <a:solidFill>
                  <a:srgbClr val="898989"/>
                </a:solidFill>
                <a:latin typeface="Calibri"/>
              </a:rPr>
              <a:t>2</a:t>
            </a:fld>
            <a:endParaRPr lang="en-US" sz="1200" b="0" strike="noStrike" spc="-1">
              <a:solidFill>
                <a:srgbClr val="000000"/>
              </a:solidFill>
              <a:latin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PlaceHolder 1"/>
          <p:cNvSpPr>
            <a:spLocks noGrp="1"/>
          </p:cNvSpPr>
          <p:nvPr>
            <p:ph type="title"/>
          </p:nvPr>
        </p:nvSpPr>
        <p:spPr>
          <a:xfrm>
            <a:off x="838080" y="665280"/>
            <a:ext cx="10515600" cy="1025280"/>
          </a:xfrm>
          <a:prstGeom prst="rect">
            <a:avLst/>
          </a:prstGeom>
          <a:noFill/>
          <a:ln w="0">
            <a:noFill/>
          </a:ln>
        </p:spPr>
        <p:txBody>
          <a:bodyPr lIns="91440" tIns="45720" rIns="91440" bIns="45720" anchor="ctr">
            <a:noAutofit/>
          </a:bodyPr>
          <a:lstStyle/>
          <a:p>
            <a:pPr indent="0" algn="ctr">
              <a:lnSpc>
                <a:spcPct val="9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b="0" strike="noStrike" spc="-1">
                <a:solidFill>
                  <a:srgbClr val="000000"/>
                </a:solidFill>
                <a:latin typeface="Times New Roman"/>
                <a:ea typeface="Times New Roman"/>
              </a:rPr>
              <a:t>INTRODUCTION</a:t>
            </a:r>
            <a:endParaRPr lang="en-US" sz="4400" b="0" strike="noStrike" spc="-1">
              <a:solidFill>
                <a:srgbClr val="000000"/>
              </a:solidFill>
              <a:latin typeface="Calibri Light"/>
            </a:endParaRPr>
          </a:p>
        </p:txBody>
      </p:sp>
      <p:sp>
        <p:nvSpPr>
          <p:cNvPr id="20" name="TextBox 19"/>
          <p:cNvSpPr txBox="1"/>
          <p:nvPr/>
        </p:nvSpPr>
        <p:spPr>
          <a:xfrm>
            <a:off x="838080" y="1825200"/>
            <a:ext cx="10515600" cy="3291840"/>
          </a:xfrm>
          <a:prstGeom prst="rect">
            <a:avLst/>
          </a:prstGeom>
          <a:noFill/>
          <a:ln w="0">
            <a:noFill/>
          </a:ln>
        </p:spPr>
        <p:txBody>
          <a:bodyPr anchor="t">
            <a:normAutofit/>
          </a:bodyPr>
          <a:lstStyle/>
          <a:p>
            <a:pPr marL="228600" indent="-228600">
              <a:lnSpc>
                <a:spcPct val="108000"/>
              </a:lnSpc>
              <a:spcBef>
                <a:spcPts val="700"/>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1900" b="0" strike="noStrike" spc="-1">
                <a:solidFill>
                  <a:srgbClr val="000000"/>
                </a:solidFill>
                <a:latin typeface="Times New Roman"/>
                <a:ea typeface="Times New Roman"/>
              </a:rPr>
              <a:t>Every business creates data. It needs systems to record that data and systems to learn from it.</a:t>
            </a:r>
            <a:endParaRPr lang="en-US" sz="1900" b="0" strike="noStrike" spc="-1">
              <a:solidFill>
                <a:srgbClr val="000000"/>
              </a:solidFill>
              <a:latin typeface="Calibri"/>
            </a:endParaRPr>
          </a:p>
          <a:p>
            <a:pPr marL="228600" indent="-228600">
              <a:lnSpc>
                <a:spcPct val="108000"/>
              </a:lnSpc>
              <a:spcBef>
                <a:spcPts val="700"/>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1900" b="1" strike="noStrike" spc="-1">
                <a:solidFill>
                  <a:srgbClr val="000000"/>
                </a:solidFill>
                <a:latin typeface="Times New Roman"/>
                <a:ea typeface="Times New Roman"/>
              </a:rPr>
              <a:t>Operational systems </a:t>
            </a:r>
            <a:r>
              <a:rPr lang="en-US" sz="1900" b="0" strike="noStrike" spc="-1">
                <a:solidFill>
                  <a:srgbClr val="000000"/>
                </a:solidFill>
                <a:latin typeface="Times New Roman"/>
                <a:ea typeface="Times New Roman"/>
              </a:rPr>
              <a:t>record business transactions as they happen, such as billing, booking and banking.</a:t>
            </a:r>
            <a:endParaRPr lang="en-US" sz="1900" b="0" strike="noStrike" spc="-1">
              <a:solidFill>
                <a:srgbClr val="000000"/>
              </a:solidFill>
              <a:latin typeface="Calibri"/>
            </a:endParaRPr>
          </a:p>
          <a:p>
            <a:pPr marL="228600" indent="-228600">
              <a:lnSpc>
                <a:spcPct val="108000"/>
              </a:lnSpc>
              <a:spcBef>
                <a:spcPts val="700"/>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1900" b="1" strike="noStrike" spc="-1">
                <a:solidFill>
                  <a:srgbClr val="000000"/>
                </a:solidFill>
                <a:latin typeface="Times New Roman"/>
                <a:ea typeface="Times New Roman"/>
              </a:rPr>
              <a:t>Decision Support Systems (DSS) </a:t>
            </a:r>
            <a:r>
              <a:rPr lang="en-US" sz="1900" b="0" strike="noStrike" spc="-1">
                <a:solidFill>
                  <a:srgbClr val="000000"/>
                </a:solidFill>
                <a:latin typeface="Times New Roman"/>
                <a:ea typeface="Times New Roman"/>
              </a:rPr>
              <a:t>analyse the collected data to help managers take better decisions.</a:t>
            </a:r>
            <a:endParaRPr lang="en-US" sz="1900" b="0" strike="noStrike" spc="-1">
              <a:solidFill>
                <a:srgbClr val="000000"/>
              </a:solidFill>
              <a:latin typeface="Calibri"/>
            </a:endParaRPr>
          </a:p>
          <a:p>
            <a:pPr marL="228600" indent="-228600">
              <a:lnSpc>
                <a:spcPct val="108000"/>
              </a:lnSpc>
              <a:spcBef>
                <a:spcPts val="700"/>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1900" b="1" strike="noStrike" spc="-1">
                <a:solidFill>
                  <a:srgbClr val="000000"/>
                </a:solidFill>
                <a:latin typeface="Times New Roman"/>
                <a:ea typeface="Times New Roman"/>
              </a:rPr>
              <a:t>OLTP and OLAP </a:t>
            </a:r>
            <a:r>
              <a:rPr lang="en-US" sz="1900" b="0" strike="noStrike" spc="-1">
                <a:solidFill>
                  <a:srgbClr val="000000"/>
                </a:solidFill>
                <a:latin typeface="Times New Roman"/>
                <a:ea typeface="Times New Roman"/>
              </a:rPr>
              <a:t>are the technical names for these two kinds of processing.</a:t>
            </a:r>
            <a:endParaRPr lang="en-US" sz="1900" b="0" strike="noStrike" spc="-1">
              <a:solidFill>
                <a:srgbClr val="000000"/>
              </a:solidFill>
              <a:latin typeface="Calibri"/>
            </a:endParaRPr>
          </a:p>
          <a:p>
            <a:pPr marL="228600" indent="-228600">
              <a:lnSpc>
                <a:spcPct val="108000"/>
              </a:lnSpc>
              <a:spcBef>
                <a:spcPts val="700"/>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1900" b="0" strike="noStrike" spc="-1">
                <a:solidFill>
                  <a:srgbClr val="000000"/>
                </a:solidFill>
                <a:latin typeface="Times New Roman"/>
                <a:ea typeface="Times New Roman"/>
              </a:rPr>
              <a:t>One database cannot do both jobs well, so organizations keep them separate and connect them using ETL.</a:t>
            </a:r>
            <a:endParaRPr lang="en-US" sz="1900" b="0" strike="noStrike" spc="-1">
              <a:solidFill>
                <a:srgbClr val="000000"/>
              </a:solidFill>
              <a:latin typeface="Calibri"/>
            </a:endParaRPr>
          </a:p>
        </p:txBody>
      </p:sp>
      <p:pic>
        <p:nvPicPr>
          <p:cNvPr id="21" name="image3.png" descr="C:\Users\ADMIN\AppData\Local\Microsoft\Windows\INetCache\Content.MSO\C29DB0A6.tmp"/>
          <p:cNvPicPr/>
          <p:nvPr/>
        </p:nvPicPr>
        <p:blipFill>
          <a:blip r:embed="rId3"/>
          <a:stretch/>
        </p:blipFill>
        <p:spPr>
          <a:xfrm>
            <a:off x="2924280" y="52560"/>
            <a:ext cx="5313240" cy="544320"/>
          </a:xfrm>
          <a:prstGeom prst="rect">
            <a:avLst/>
          </a:prstGeom>
          <a:ln w="0">
            <a:noFill/>
          </a:ln>
        </p:spPr>
      </p:pic>
      <p:sp>
        <p:nvSpPr>
          <p:cNvPr id="22" name="Date Placeholder 4"/>
          <p:cNvSpPr/>
          <p:nvPr/>
        </p:nvSpPr>
        <p:spPr>
          <a:xfrm>
            <a:off x="838080" y="6356520"/>
            <a:ext cx="274320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strike="noStrike" spc="-1">
                <a:solidFill>
                  <a:srgbClr val="898989"/>
                </a:solidFill>
                <a:latin typeface="Calibri"/>
              </a:rPr>
              <a:t>10/13/2026</a:t>
            </a:r>
            <a:endParaRPr lang="en-US" sz="1200" b="0" strike="noStrike" spc="-1">
              <a:solidFill>
                <a:srgbClr val="000000"/>
              </a:solidFill>
              <a:latin typeface="Calibri"/>
            </a:endParaRPr>
          </a:p>
        </p:txBody>
      </p:sp>
      <p:sp>
        <p:nvSpPr>
          <p:cNvPr id="23" name="Footer Placeholder 5"/>
          <p:cNvSpPr/>
          <p:nvPr/>
        </p:nvSpPr>
        <p:spPr>
          <a:xfrm>
            <a:off x="4038480" y="6356520"/>
            <a:ext cx="411480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strike="noStrike" spc="-1">
                <a:solidFill>
                  <a:srgbClr val="898989"/>
                </a:solidFill>
                <a:latin typeface="Calibri"/>
              </a:rPr>
              <a:t>DATA WAREHOUSING AND DATA MINING</a:t>
            </a:r>
            <a:endParaRPr lang="en-US" sz="1200" b="0" strike="noStrike" spc="-1">
              <a:solidFill>
                <a:srgbClr val="000000"/>
              </a:solidFill>
              <a:latin typeface="Calibri"/>
            </a:endParaRPr>
          </a:p>
        </p:txBody>
      </p:sp>
      <p:sp>
        <p:nvSpPr>
          <p:cNvPr id="24" name="Slide Number Placeholder 6"/>
          <p:cNvSpPr/>
          <p:nvPr/>
        </p:nvSpPr>
        <p:spPr>
          <a:xfrm>
            <a:off x="8610480" y="6356520"/>
            <a:ext cx="274320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rmAutofit/>
          </a:bodyPr>
          <a:lstStyle/>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139D99F1-6865-4283-A5CF-EBBB5994E458}" type="slidenum">
              <a:rPr lang="en-US" sz="1200" b="0" strike="noStrike" spc="-1">
                <a:solidFill>
                  <a:srgbClr val="898989"/>
                </a:solidFill>
                <a:latin typeface="Calibri"/>
              </a:rPr>
              <a:t>3</a:t>
            </a:fld>
            <a:endParaRPr lang="en-US" sz="1200" b="0" strike="noStrike" spc="-1">
              <a:solidFill>
                <a:srgbClr val="000000"/>
              </a:solidFill>
              <a:latin typeface="Calibri"/>
            </a:endParaRPr>
          </a:p>
        </p:txBody>
      </p:sp>
      <p:sp>
        <p:nvSpPr>
          <p:cNvPr id="25" name="Pentagon 24"/>
          <p:cNvSpPr/>
          <p:nvPr/>
        </p:nvSpPr>
        <p:spPr>
          <a:xfrm>
            <a:off x="822960" y="5166360"/>
            <a:ext cx="3520440" cy="868680"/>
          </a:xfrm>
          <a:prstGeom prst="homePlate">
            <a:avLst/>
          </a:prstGeom>
          <a:solidFill>
            <a:srgbClr val="FBE4D5"/>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500" b="1">
                <a:solidFill>
                  <a:srgbClr val="000000"/>
                </a:solidFill>
                <a:latin typeface="Times New Roman"/>
              </a:rPr>
              <a:t>TRANSACTIONS</a:t>
            </a:r>
          </a:p>
          <a:p>
            <a:pPr algn="ctr"/>
            <a:r>
              <a:rPr sz="1500" b="0">
                <a:solidFill>
                  <a:srgbClr val="000000"/>
                </a:solidFill>
                <a:latin typeface="Times New Roman"/>
              </a:rPr>
              <a:t>(OLTP)</a:t>
            </a:r>
          </a:p>
        </p:txBody>
      </p:sp>
      <p:sp>
        <p:nvSpPr>
          <p:cNvPr id="26" name="Pentagon 25"/>
          <p:cNvSpPr/>
          <p:nvPr/>
        </p:nvSpPr>
        <p:spPr>
          <a:xfrm>
            <a:off x="4343400" y="5166360"/>
            <a:ext cx="3520440" cy="868680"/>
          </a:xfrm>
          <a:prstGeom prst="homePlate">
            <a:avLst/>
          </a:prstGeom>
          <a:solidFill>
            <a:srgbClr val="FBE4D5"/>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500" b="1">
                <a:solidFill>
                  <a:srgbClr val="000000"/>
                </a:solidFill>
                <a:latin typeface="Times New Roman"/>
              </a:rPr>
              <a:t>DATA WAREHOUSE</a:t>
            </a:r>
          </a:p>
          <a:p>
            <a:pPr algn="ctr"/>
            <a:r>
              <a:rPr sz="1500" b="0">
                <a:solidFill>
                  <a:srgbClr val="000000"/>
                </a:solidFill>
                <a:latin typeface="Times New Roman"/>
              </a:rPr>
              <a:t>(ETL loads data)</a:t>
            </a:r>
          </a:p>
        </p:txBody>
      </p:sp>
      <p:sp>
        <p:nvSpPr>
          <p:cNvPr id="27" name="Pentagon 26"/>
          <p:cNvSpPr/>
          <p:nvPr/>
        </p:nvSpPr>
        <p:spPr>
          <a:xfrm>
            <a:off x="7863840" y="5166360"/>
            <a:ext cx="3520440" cy="868680"/>
          </a:xfrm>
          <a:prstGeom prst="homePlate">
            <a:avLst/>
          </a:prstGeom>
          <a:solidFill>
            <a:srgbClr val="FBE4D5"/>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500" b="1">
                <a:solidFill>
                  <a:srgbClr val="000000"/>
                </a:solidFill>
                <a:latin typeface="Times New Roman"/>
              </a:rPr>
              <a:t>DECISIONS</a:t>
            </a:r>
          </a:p>
          <a:p>
            <a:pPr algn="ctr"/>
            <a:r>
              <a:rPr sz="1500" b="0">
                <a:solidFill>
                  <a:srgbClr val="000000"/>
                </a:solidFill>
                <a:latin typeface="Times New Roman"/>
              </a:rPr>
              <a:t>(OLAP)</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PlaceHolder 1"/>
          <p:cNvSpPr>
            <a:spLocks noGrp="1"/>
          </p:cNvSpPr>
          <p:nvPr>
            <p:ph type="title"/>
          </p:nvPr>
        </p:nvSpPr>
        <p:spPr>
          <a:xfrm>
            <a:off x="838080" y="665280"/>
            <a:ext cx="10515600" cy="1025280"/>
          </a:xfrm>
          <a:prstGeom prst="rect">
            <a:avLst/>
          </a:prstGeom>
          <a:noFill/>
          <a:ln w="0">
            <a:noFill/>
          </a:ln>
        </p:spPr>
        <p:txBody>
          <a:bodyPr lIns="91440" tIns="45720" rIns="91440" bIns="45720" anchor="ctr">
            <a:noAutofit/>
          </a:bodyPr>
          <a:lstStyle/>
          <a:p>
            <a:pPr indent="0" algn="ctr">
              <a:lnSpc>
                <a:spcPct val="9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b="0" strike="noStrike" spc="-1">
                <a:solidFill>
                  <a:srgbClr val="000000"/>
                </a:solidFill>
                <a:latin typeface="Times New Roman"/>
                <a:ea typeface="Times New Roman"/>
              </a:rPr>
              <a:t>OPERATIONAL SYSTEMS (OLTP)</a:t>
            </a:r>
            <a:endParaRPr lang="en-US" sz="4400" b="0" strike="noStrike" spc="-1">
              <a:solidFill>
                <a:srgbClr val="000000"/>
              </a:solidFill>
              <a:latin typeface="Calibri Light"/>
            </a:endParaRPr>
          </a:p>
        </p:txBody>
      </p:sp>
      <p:sp>
        <p:nvSpPr>
          <p:cNvPr id="26" name="TextBox 25"/>
          <p:cNvSpPr txBox="1"/>
          <p:nvPr/>
        </p:nvSpPr>
        <p:spPr>
          <a:xfrm>
            <a:off x="838080" y="1825200"/>
            <a:ext cx="6400800" cy="4351320"/>
          </a:xfrm>
          <a:prstGeom prst="rect">
            <a:avLst/>
          </a:prstGeom>
          <a:noFill/>
          <a:ln w="0">
            <a:noFill/>
          </a:ln>
        </p:spPr>
        <p:txBody>
          <a:bodyPr anchor="t">
            <a:normAutofit/>
          </a:bodyPr>
          <a:lstStyle/>
          <a:p>
            <a:pPr marL="228600" indent="-228600">
              <a:lnSpc>
                <a:spcPct val="110000"/>
              </a:lnSpc>
              <a:spcBef>
                <a:spcPts val="1000"/>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strike="noStrike" spc="-1">
                <a:solidFill>
                  <a:srgbClr val="000000"/>
                </a:solidFill>
                <a:latin typeface="Times New Roman"/>
                <a:ea typeface="Times New Roman"/>
              </a:rPr>
              <a:t>Meaning: </a:t>
            </a:r>
            <a:r>
              <a:rPr lang="en-US" sz="2000" b="0" strike="noStrike" spc="-1">
                <a:solidFill>
                  <a:srgbClr val="000000"/>
                </a:solidFill>
                <a:latin typeface="Times New Roman"/>
                <a:ea typeface="Times New Roman"/>
              </a:rPr>
              <a:t>OLTP (Online Transaction Processing) runs the daily business and records every transaction as it happens.</a:t>
            </a:r>
            <a:endParaRPr lang="en-US" sz="2000" b="0" strike="noStrike" spc="-1">
              <a:solidFill>
                <a:srgbClr val="000000"/>
              </a:solidFill>
              <a:latin typeface="Calibri"/>
            </a:endParaRPr>
          </a:p>
          <a:p>
            <a:pPr marL="228600" indent="-228600">
              <a:lnSpc>
                <a:spcPct val="110000"/>
              </a:lnSpc>
              <a:spcBef>
                <a:spcPts val="1000"/>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strike="noStrike" spc="-1">
                <a:solidFill>
                  <a:srgbClr val="000000"/>
                </a:solidFill>
                <a:latin typeface="Times New Roman"/>
                <a:ea typeface="Times New Roman"/>
              </a:rPr>
              <a:t>Workload: </a:t>
            </a:r>
            <a:r>
              <a:rPr lang="en-US" sz="2000" b="0" strike="noStrike" spc="-1">
                <a:solidFill>
                  <a:srgbClr val="000000"/>
                </a:solidFill>
                <a:latin typeface="Times New Roman"/>
                <a:ea typeface="Times New Roman"/>
              </a:rPr>
              <a:t>many short insert, update and delete operations by thousands of users at the same time.</a:t>
            </a:r>
            <a:endParaRPr lang="en-US" sz="2000" b="0" strike="noStrike" spc="-1">
              <a:solidFill>
                <a:srgbClr val="000000"/>
              </a:solidFill>
              <a:latin typeface="Calibri"/>
            </a:endParaRPr>
          </a:p>
          <a:p>
            <a:pPr marL="228600" indent="-228600">
              <a:lnSpc>
                <a:spcPct val="110000"/>
              </a:lnSpc>
              <a:spcBef>
                <a:spcPts val="1000"/>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strike="noStrike" spc="-1">
                <a:solidFill>
                  <a:srgbClr val="000000"/>
                </a:solidFill>
                <a:latin typeface="Times New Roman"/>
                <a:ea typeface="Times New Roman"/>
              </a:rPr>
              <a:t>Data: </a:t>
            </a:r>
            <a:r>
              <a:rPr lang="en-US" sz="2000" b="0" strike="noStrike" spc="-1">
                <a:solidFill>
                  <a:srgbClr val="000000"/>
                </a:solidFill>
                <a:latin typeface="Times New Roman"/>
                <a:ea typeface="Times New Roman"/>
              </a:rPr>
              <a:t>current and detailed, stored in a normalized database.</a:t>
            </a:r>
            <a:endParaRPr lang="en-US" sz="2000" b="0" strike="noStrike" spc="-1">
              <a:solidFill>
                <a:srgbClr val="000000"/>
              </a:solidFill>
              <a:latin typeface="Calibri"/>
            </a:endParaRPr>
          </a:p>
          <a:p>
            <a:pPr marL="228600" indent="-228600">
              <a:lnSpc>
                <a:spcPct val="110000"/>
              </a:lnSpc>
              <a:spcBef>
                <a:spcPts val="1000"/>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strike="noStrike" spc="-1">
                <a:solidFill>
                  <a:srgbClr val="000000"/>
                </a:solidFill>
                <a:latin typeface="Times New Roman"/>
                <a:ea typeface="Times New Roman"/>
              </a:rPr>
              <a:t>Speed: </a:t>
            </a:r>
            <a:r>
              <a:rPr lang="en-US" sz="2000" b="0" strike="noStrike" spc="-1">
                <a:solidFill>
                  <a:srgbClr val="000000"/>
                </a:solidFill>
                <a:latin typeface="Times New Roman"/>
                <a:ea typeface="Times New Roman"/>
              </a:rPr>
              <a:t>responses in milliseconds, so customers never wait.</a:t>
            </a:r>
            <a:endParaRPr lang="en-US" sz="2000" b="0" strike="noStrike" spc="-1">
              <a:solidFill>
                <a:srgbClr val="000000"/>
              </a:solidFill>
              <a:latin typeface="Calibri"/>
            </a:endParaRPr>
          </a:p>
          <a:p>
            <a:pPr marL="228600" indent="-228600">
              <a:lnSpc>
                <a:spcPct val="110000"/>
              </a:lnSpc>
              <a:spcBef>
                <a:spcPts val="1000"/>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strike="noStrike" spc="-1">
                <a:solidFill>
                  <a:srgbClr val="000000"/>
                </a:solidFill>
                <a:latin typeface="Times New Roman"/>
                <a:ea typeface="Times New Roman"/>
              </a:rPr>
              <a:t>Examples: </a:t>
            </a:r>
            <a:r>
              <a:rPr lang="en-US" sz="2000" b="0" strike="noStrike" spc="-1">
                <a:solidFill>
                  <a:srgbClr val="000000"/>
                </a:solidFill>
                <a:latin typeface="Times New Roman"/>
                <a:ea typeface="Times New Roman"/>
              </a:rPr>
              <a:t>ATM withdrawal, ticket booking, retail billing, hospital admission.</a:t>
            </a:r>
            <a:endParaRPr lang="en-US" sz="2000" b="0" strike="noStrike" spc="-1">
              <a:solidFill>
                <a:srgbClr val="000000"/>
              </a:solidFill>
              <a:latin typeface="Calibri"/>
            </a:endParaRPr>
          </a:p>
        </p:txBody>
      </p:sp>
      <p:pic>
        <p:nvPicPr>
          <p:cNvPr id="27" name="image3.png" descr="C:\Users\ADMIN\AppData\Local\Microsoft\Windows\INetCache\Content.MSO\C29DB0A6.tmp"/>
          <p:cNvPicPr/>
          <p:nvPr/>
        </p:nvPicPr>
        <p:blipFill>
          <a:blip r:embed="rId3"/>
          <a:stretch/>
        </p:blipFill>
        <p:spPr>
          <a:xfrm>
            <a:off x="2924280" y="52560"/>
            <a:ext cx="5313240" cy="544320"/>
          </a:xfrm>
          <a:prstGeom prst="rect">
            <a:avLst/>
          </a:prstGeom>
          <a:ln w="0">
            <a:noFill/>
          </a:ln>
        </p:spPr>
      </p:pic>
      <p:sp>
        <p:nvSpPr>
          <p:cNvPr id="28" name="Date Placeholder 4"/>
          <p:cNvSpPr/>
          <p:nvPr/>
        </p:nvSpPr>
        <p:spPr>
          <a:xfrm>
            <a:off x="838080" y="6356520"/>
            <a:ext cx="274320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strike="noStrike" spc="-1">
                <a:solidFill>
                  <a:srgbClr val="898989"/>
                </a:solidFill>
                <a:latin typeface="Calibri"/>
              </a:rPr>
              <a:t>10/13/2026</a:t>
            </a:r>
            <a:endParaRPr lang="en-US" sz="1200" b="0" strike="noStrike" spc="-1">
              <a:solidFill>
                <a:srgbClr val="000000"/>
              </a:solidFill>
              <a:latin typeface="Calibri"/>
            </a:endParaRPr>
          </a:p>
        </p:txBody>
      </p:sp>
      <p:sp>
        <p:nvSpPr>
          <p:cNvPr id="29" name="Footer Placeholder 5"/>
          <p:cNvSpPr/>
          <p:nvPr/>
        </p:nvSpPr>
        <p:spPr>
          <a:xfrm>
            <a:off x="4038480" y="6356520"/>
            <a:ext cx="411480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strike="noStrike" spc="-1">
                <a:solidFill>
                  <a:srgbClr val="898989"/>
                </a:solidFill>
                <a:latin typeface="Calibri"/>
              </a:rPr>
              <a:t>DATA WAREHOUSING AND DATA MINING</a:t>
            </a:r>
            <a:endParaRPr lang="en-US" sz="1200" b="0" strike="noStrike" spc="-1">
              <a:solidFill>
                <a:srgbClr val="000000"/>
              </a:solidFill>
              <a:latin typeface="Calibri"/>
            </a:endParaRPr>
          </a:p>
        </p:txBody>
      </p:sp>
      <p:sp>
        <p:nvSpPr>
          <p:cNvPr id="30" name="Slide Number Placeholder 6"/>
          <p:cNvSpPr/>
          <p:nvPr/>
        </p:nvSpPr>
        <p:spPr>
          <a:xfrm>
            <a:off x="8610480" y="6356520"/>
            <a:ext cx="274320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rmAutofit/>
          </a:bodyPr>
          <a:lstStyle/>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D212FC83-4811-4DC0-995A-63AFCD5C90C7}" type="slidenum">
              <a:rPr lang="en-US" sz="1200" b="0" strike="noStrike" spc="-1">
                <a:solidFill>
                  <a:srgbClr val="898989"/>
                </a:solidFill>
                <a:latin typeface="Calibri"/>
              </a:rPr>
              <a:t>4</a:t>
            </a:fld>
            <a:endParaRPr lang="en-US" sz="1200" b="0" strike="noStrike" spc="-1">
              <a:solidFill>
                <a:srgbClr val="000000"/>
              </a:solidFill>
              <a:latin typeface="Calibri"/>
            </a:endParaRPr>
          </a:p>
        </p:txBody>
      </p:sp>
      <p:sp>
        <p:nvSpPr>
          <p:cNvPr id="31" name="Rectangle 30"/>
          <p:cNvSpPr/>
          <p:nvPr/>
        </p:nvSpPr>
        <p:spPr>
          <a:xfrm>
            <a:off x="7589520" y="1828800"/>
            <a:ext cx="4069080" cy="384048"/>
          </a:xfrm>
          <a:prstGeom prst="rect">
            <a:avLst/>
          </a:prstGeom>
          <a:solidFill>
            <a:srgbClr val="F4B183"/>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500" b="1">
                <a:solidFill>
                  <a:srgbClr val="000000"/>
                </a:solidFill>
                <a:latin typeface="Times New Roman"/>
              </a:rPr>
              <a:t>ACID PROPERTIES</a:t>
            </a:r>
          </a:p>
        </p:txBody>
      </p:sp>
      <p:sp>
        <p:nvSpPr>
          <p:cNvPr id="32" name="Rectangle 31"/>
          <p:cNvSpPr/>
          <p:nvPr/>
        </p:nvSpPr>
        <p:spPr>
          <a:xfrm>
            <a:off x="7589520" y="2331720"/>
            <a:ext cx="4069080" cy="841248"/>
          </a:xfrm>
          <a:prstGeom prst="rect">
            <a:avLst/>
          </a:prstGeom>
          <a:solidFill>
            <a:srgbClr val="FBE4D5"/>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r>
              <a:rPr sz="1500" b="1">
                <a:solidFill>
                  <a:srgbClr val="000000"/>
                </a:solidFill>
                <a:latin typeface="Times New Roman"/>
              </a:rPr>
              <a:t>Atomicity</a:t>
            </a:r>
          </a:p>
          <a:p>
            <a:pPr algn="l"/>
            <a:r>
              <a:rPr sz="1300" b="0">
                <a:solidFill>
                  <a:srgbClr val="000000"/>
                </a:solidFill>
                <a:latin typeface="Times New Roman"/>
              </a:rPr>
              <a:t>all steps of a transaction happen, or none</a:t>
            </a:r>
          </a:p>
        </p:txBody>
      </p:sp>
      <p:sp>
        <p:nvSpPr>
          <p:cNvPr id="33" name="Rectangle 32"/>
          <p:cNvSpPr/>
          <p:nvPr/>
        </p:nvSpPr>
        <p:spPr>
          <a:xfrm>
            <a:off x="7589520" y="3291839"/>
            <a:ext cx="4069080" cy="841248"/>
          </a:xfrm>
          <a:prstGeom prst="rect">
            <a:avLst/>
          </a:prstGeom>
          <a:solidFill>
            <a:srgbClr val="FBE4D5"/>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r>
              <a:rPr sz="1500" b="1">
                <a:solidFill>
                  <a:srgbClr val="000000"/>
                </a:solidFill>
                <a:latin typeface="Times New Roman"/>
              </a:rPr>
              <a:t>Consistency</a:t>
            </a:r>
          </a:p>
          <a:p>
            <a:pPr algn="l"/>
            <a:r>
              <a:rPr sz="1300" b="0">
                <a:solidFill>
                  <a:srgbClr val="000000"/>
                </a:solidFill>
                <a:latin typeface="Times New Roman"/>
              </a:rPr>
              <a:t>data always stays valid</a:t>
            </a:r>
          </a:p>
        </p:txBody>
      </p:sp>
      <p:sp>
        <p:nvSpPr>
          <p:cNvPr id="34" name="Rectangle 33"/>
          <p:cNvSpPr/>
          <p:nvPr/>
        </p:nvSpPr>
        <p:spPr>
          <a:xfrm>
            <a:off x="7589520" y="4251960"/>
            <a:ext cx="4069080" cy="841248"/>
          </a:xfrm>
          <a:prstGeom prst="rect">
            <a:avLst/>
          </a:prstGeom>
          <a:solidFill>
            <a:srgbClr val="FBE4D5"/>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r>
              <a:rPr sz="1500" b="1">
                <a:solidFill>
                  <a:srgbClr val="000000"/>
                </a:solidFill>
                <a:latin typeface="Times New Roman"/>
              </a:rPr>
              <a:t>Isolation</a:t>
            </a:r>
          </a:p>
          <a:p>
            <a:pPr algn="l"/>
            <a:r>
              <a:rPr sz="1300" b="0">
                <a:solidFill>
                  <a:srgbClr val="000000"/>
                </a:solidFill>
                <a:latin typeface="Times New Roman"/>
              </a:rPr>
              <a:t>parallel transactions do not disturb each other</a:t>
            </a:r>
          </a:p>
        </p:txBody>
      </p:sp>
      <p:sp>
        <p:nvSpPr>
          <p:cNvPr id="35" name="Rectangle 34"/>
          <p:cNvSpPr/>
          <p:nvPr/>
        </p:nvSpPr>
        <p:spPr>
          <a:xfrm>
            <a:off x="7589520" y="5212080"/>
            <a:ext cx="4069080" cy="841248"/>
          </a:xfrm>
          <a:prstGeom prst="rect">
            <a:avLst/>
          </a:prstGeom>
          <a:solidFill>
            <a:srgbClr val="FBE4D5"/>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r>
              <a:rPr sz="1500" b="1">
                <a:solidFill>
                  <a:srgbClr val="000000"/>
                </a:solidFill>
                <a:latin typeface="Times New Roman"/>
              </a:rPr>
              <a:t>Durability</a:t>
            </a:r>
          </a:p>
          <a:p>
            <a:pPr algn="l"/>
            <a:r>
              <a:rPr sz="1300" b="0">
                <a:solidFill>
                  <a:srgbClr val="000000"/>
                </a:solidFill>
                <a:latin typeface="Times New Roman"/>
              </a:rPr>
              <a:t>committed data is never lost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PlaceHolder 1"/>
          <p:cNvSpPr>
            <a:spLocks noGrp="1"/>
          </p:cNvSpPr>
          <p:nvPr>
            <p:ph type="title"/>
          </p:nvPr>
        </p:nvSpPr>
        <p:spPr>
          <a:xfrm>
            <a:off x="838080" y="665280"/>
            <a:ext cx="10515600" cy="1025280"/>
          </a:xfrm>
          <a:prstGeom prst="rect">
            <a:avLst/>
          </a:prstGeom>
          <a:noFill/>
          <a:ln w="0">
            <a:noFill/>
          </a:ln>
        </p:spPr>
        <p:txBody>
          <a:bodyPr lIns="91440" tIns="45720" rIns="91440" bIns="45720" anchor="ctr">
            <a:noAutofit/>
          </a:bodyPr>
          <a:lstStyle/>
          <a:p>
            <a:pPr indent="0" algn="ctr">
              <a:lnSpc>
                <a:spcPct val="9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b="0" strike="noStrike" spc="-1">
                <a:solidFill>
                  <a:srgbClr val="000000"/>
                </a:solidFill>
                <a:latin typeface="Times New Roman"/>
                <a:ea typeface="Times New Roman"/>
              </a:rPr>
              <a:t>DECISION SUPPORT SYSTEMS (OLAP)</a:t>
            </a:r>
            <a:endParaRPr lang="en-US" sz="4400" b="0" strike="noStrike" spc="-1">
              <a:solidFill>
                <a:srgbClr val="000000"/>
              </a:solidFill>
              <a:latin typeface="Calibri Light"/>
            </a:endParaRPr>
          </a:p>
        </p:txBody>
      </p:sp>
      <p:sp>
        <p:nvSpPr>
          <p:cNvPr id="14" name="TextBox 13"/>
          <p:cNvSpPr txBox="1"/>
          <p:nvPr/>
        </p:nvSpPr>
        <p:spPr>
          <a:xfrm>
            <a:off x="838080" y="1825200"/>
            <a:ext cx="6400800" cy="4351320"/>
          </a:xfrm>
          <a:prstGeom prst="rect">
            <a:avLst/>
          </a:prstGeom>
          <a:noFill/>
          <a:ln w="0">
            <a:noFill/>
          </a:ln>
        </p:spPr>
        <p:txBody>
          <a:bodyPr anchor="t">
            <a:normAutofit/>
          </a:bodyPr>
          <a:lstStyle/>
          <a:p>
            <a:pPr marL="228600" indent="-228600">
              <a:lnSpc>
                <a:spcPct val="110000"/>
              </a:lnSpc>
              <a:spcBef>
                <a:spcPts val="1000"/>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strike="noStrike" spc="-1">
                <a:solidFill>
                  <a:srgbClr val="000000"/>
                </a:solidFill>
                <a:latin typeface="Times New Roman"/>
                <a:ea typeface="Times New Roman"/>
              </a:rPr>
              <a:t>Meaning: </a:t>
            </a:r>
            <a:r>
              <a:rPr lang="en-US" sz="2000" b="0" strike="noStrike" spc="-1">
                <a:solidFill>
                  <a:srgbClr val="000000"/>
                </a:solidFill>
                <a:latin typeface="Times New Roman"/>
                <a:ea typeface="Times New Roman"/>
              </a:rPr>
              <a:t>a DSS helps managers analyse data and take decisions. OLAP (Online Analytical Processing) is the technique behind it.</a:t>
            </a:r>
            <a:endParaRPr lang="en-US" sz="2000" b="0" strike="noStrike" spc="-1">
              <a:solidFill>
                <a:srgbClr val="000000"/>
              </a:solidFill>
              <a:latin typeface="Calibri"/>
            </a:endParaRPr>
          </a:p>
          <a:p>
            <a:pPr marL="228600" indent="-228600">
              <a:lnSpc>
                <a:spcPct val="110000"/>
              </a:lnSpc>
              <a:spcBef>
                <a:spcPts val="1000"/>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strike="noStrike" spc="-1">
                <a:solidFill>
                  <a:srgbClr val="000000"/>
                </a:solidFill>
                <a:latin typeface="Times New Roman"/>
                <a:ea typeface="Times New Roman"/>
              </a:rPr>
              <a:t>Components: </a:t>
            </a:r>
            <a:r>
              <a:rPr lang="en-US" sz="2000" b="0" strike="noStrike" spc="-1">
                <a:solidFill>
                  <a:srgbClr val="000000"/>
                </a:solidFill>
                <a:latin typeface="Times New Roman"/>
                <a:ea typeface="Times New Roman"/>
              </a:rPr>
              <a:t>data (warehouse), model (analysis) and user interface (reports, dashboards).</a:t>
            </a:r>
            <a:endParaRPr lang="en-US" sz="2000" b="0" strike="noStrike" spc="-1">
              <a:solidFill>
                <a:srgbClr val="000000"/>
              </a:solidFill>
              <a:latin typeface="Calibri"/>
            </a:endParaRPr>
          </a:p>
          <a:p>
            <a:pPr marL="228600" indent="-228600">
              <a:lnSpc>
                <a:spcPct val="110000"/>
              </a:lnSpc>
              <a:spcBef>
                <a:spcPts val="1000"/>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strike="noStrike" spc="-1">
                <a:solidFill>
                  <a:srgbClr val="000000"/>
                </a:solidFill>
                <a:latin typeface="Times New Roman"/>
                <a:ea typeface="Times New Roman"/>
              </a:rPr>
              <a:t>Workload: </a:t>
            </a:r>
            <a:r>
              <a:rPr lang="en-US" sz="2000" b="0" strike="noStrike" spc="-1">
                <a:solidFill>
                  <a:srgbClr val="000000"/>
                </a:solidFill>
                <a:latin typeface="Times New Roman"/>
                <a:ea typeface="Times New Roman"/>
              </a:rPr>
              <a:t>complex, read-only queries on years of data, run by a few analysts.</a:t>
            </a:r>
            <a:endParaRPr lang="en-US" sz="2000" b="0" strike="noStrike" spc="-1">
              <a:solidFill>
                <a:srgbClr val="000000"/>
              </a:solidFill>
              <a:latin typeface="Calibri"/>
            </a:endParaRPr>
          </a:p>
          <a:p>
            <a:pPr marL="228600" indent="-228600">
              <a:lnSpc>
                <a:spcPct val="110000"/>
              </a:lnSpc>
              <a:spcBef>
                <a:spcPts val="1000"/>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strike="noStrike" spc="-1">
                <a:solidFill>
                  <a:srgbClr val="000000"/>
                </a:solidFill>
                <a:latin typeface="Times New Roman"/>
                <a:ea typeface="Times New Roman"/>
              </a:rPr>
              <a:t>Data: </a:t>
            </a:r>
            <a:r>
              <a:rPr lang="en-US" sz="2000" b="0" strike="noStrike" spc="-1">
                <a:solidFill>
                  <a:srgbClr val="000000"/>
                </a:solidFill>
                <a:latin typeface="Times New Roman"/>
                <a:ea typeface="Times New Roman"/>
              </a:rPr>
              <a:t>historical and summarized, in a dimensional model (star schema).</a:t>
            </a:r>
            <a:endParaRPr lang="en-US" sz="2000" b="0" strike="noStrike" spc="-1">
              <a:solidFill>
                <a:srgbClr val="000000"/>
              </a:solidFill>
              <a:latin typeface="Calibri"/>
            </a:endParaRPr>
          </a:p>
          <a:p>
            <a:pPr marL="228600" indent="-228600">
              <a:lnSpc>
                <a:spcPct val="110000"/>
              </a:lnSpc>
              <a:spcBef>
                <a:spcPts val="1000"/>
              </a:spcBef>
              <a:buClr>
                <a:srgbClr val="000000"/>
              </a:buClr>
              <a:buFont typeface="Arial"/>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strike="noStrike" spc="-1">
                <a:solidFill>
                  <a:srgbClr val="000000"/>
                </a:solidFill>
                <a:latin typeface="Times New Roman"/>
                <a:ea typeface="Times New Roman"/>
              </a:rPr>
              <a:t>Examples: </a:t>
            </a:r>
            <a:r>
              <a:rPr lang="en-US" sz="2000" b="0" strike="noStrike" spc="-1">
                <a:solidFill>
                  <a:srgbClr val="000000"/>
                </a:solidFill>
                <a:latin typeface="Times New Roman"/>
                <a:ea typeface="Times New Roman"/>
              </a:rPr>
              <a:t>sales trend report, demand forecast, customer segmentation.</a:t>
            </a:r>
            <a:endParaRPr lang="en-US" sz="2000" b="0" strike="noStrike" spc="-1">
              <a:solidFill>
                <a:srgbClr val="000000"/>
              </a:solidFill>
              <a:latin typeface="Calibri"/>
            </a:endParaRPr>
          </a:p>
        </p:txBody>
      </p:sp>
      <p:pic>
        <p:nvPicPr>
          <p:cNvPr id="15" name="image3.png" descr="C:\Users\ADMIN\AppData\Local\Microsoft\Windows\INetCache\Content.MSO\C29DB0A6.tmp"/>
          <p:cNvPicPr/>
          <p:nvPr/>
        </p:nvPicPr>
        <p:blipFill>
          <a:blip r:embed="rId3"/>
          <a:stretch/>
        </p:blipFill>
        <p:spPr>
          <a:xfrm>
            <a:off x="2916360" y="52560"/>
            <a:ext cx="5313240" cy="544320"/>
          </a:xfrm>
          <a:prstGeom prst="rect">
            <a:avLst/>
          </a:prstGeom>
          <a:ln w="0">
            <a:noFill/>
          </a:ln>
        </p:spPr>
      </p:pic>
      <p:sp>
        <p:nvSpPr>
          <p:cNvPr id="16" name="Date Placeholder 5"/>
          <p:cNvSpPr/>
          <p:nvPr/>
        </p:nvSpPr>
        <p:spPr>
          <a:xfrm>
            <a:off x="838080" y="6356520"/>
            <a:ext cx="274320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strike="noStrike" spc="-1">
                <a:solidFill>
                  <a:srgbClr val="898989"/>
                </a:solidFill>
                <a:latin typeface="Calibri"/>
              </a:rPr>
              <a:t>10/13/2026</a:t>
            </a:r>
            <a:endParaRPr lang="en-US" sz="1200" b="0" strike="noStrike" spc="-1">
              <a:solidFill>
                <a:srgbClr val="000000"/>
              </a:solidFill>
              <a:latin typeface="Calibri"/>
            </a:endParaRPr>
          </a:p>
        </p:txBody>
      </p:sp>
      <p:sp>
        <p:nvSpPr>
          <p:cNvPr id="17" name="Footer Placeholder 6"/>
          <p:cNvSpPr/>
          <p:nvPr/>
        </p:nvSpPr>
        <p:spPr>
          <a:xfrm>
            <a:off x="4038480" y="6356520"/>
            <a:ext cx="411480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strike="noStrike" spc="-1">
                <a:solidFill>
                  <a:srgbClr val="898989"/>
                </a:solidFill>
                <a:latin typeface="Calibri"/>
              </a:rPr>
              <a:t>DATA WAREHOUSING AND DATA MINING</a:t>
            </a:r>
            <a:endParaRPr lang="en-US" sz="1200" b="0" strike="noStrike" spc="-1">
              <a:solidFill>
                <a:srgbClr val="000000"/>
              </a:solidFill>
              <a:latin typeface="Calibri"/>
            </a:endParaRPr>
          </a:p>
        </p:txBody>
      </p:sp>
      <p:sp>
        <p:nvSpPr>
          <p:cNvPr id="18" name="Slide Number Placeholder 7"/>
          <p:cNvSpPr/>
          <p:nvPr/>
        </p:nvSpPr>
        <p:spPr>
          <a:xfrm>
            <a:off x="8610480" y="6356520"/>
            <a:ext cx="274320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rmAutofit/>
          </a:bodyPr>
          <a:lstStyle/>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CF5B6FA1-9E6C-470F-8070-A68FB6439F39}" type="slidenum">
              <a:rPr lang="en-US" sz="1200" b="0" strike="noStrike" spc="-1">
                <a:solidFill>
                  <a:srgbClr val="898989"/>
                </a:solidFill>
                <a:latin typeface="Calibri"/>
              </a:rPr>
              <a:t>5</a:t>
            </a:fld>
            <a:endParaRPr lang="en-US" sz="1200" b="0" strike="noStrike" spc="-1">
              <a:solidFill>
                <a:srgbClr val="000000"/>
              </a:solidFill>
              <a:latin typeface="Calibri"/>
            </a:endParaRPr>
          </a:p>
        </p:txBody>
      </p:sp>
      <p:sp>
        <p:nvSpPr>
          <p:cNvPr id="19" name="Rectangle 18"/>
          <p:cNvSpPr/>
          <p:nvPr/>
        </p:nvSpPr>
        <p:spPr>
          <a:xfrm>
            <a:off x="7589520" y="1828800"/>
            <a:ext cx="4069080" cy="384048"/>
          </a:xfrm>
          <a:prstGeom prst="rect">
            <a:avLst/>
          </a:prstGeom>
          <a:solidFill>
            <a:srgbClr val="F4B183"/>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500" b="1">
                <a:solidFill>
                  <a:srgbClr val="000000"/>
                </a:solidFill>
                <a:latin typeface="Times New Roman"/>
              </a:rPr>
              <a:t>OLAP OPERATIONS</a:t>
            </a:r>
          </a:p>
        </p:txBody>
      </p:sp>
      <p:sp>
        <p:nvSpPr>
          <p:cNvPr id="20" name="Rectangle 19"/>
          <p:cNvSpPr/>
          <p:nvPr/>
        </p:nvSpPr>
        <p:spPr>
          <a:xfrm>
            <a:off x="7589520" y="2331720"/>
            <a:ext cx="4069080" cy="841248"/>
          </a:xfrm>
          <a:prstGeom prst="rect">
            <a:avLst/>
          </a:prstGeom>
          <a:solidFill>
            <a:srgbClr val="FBE4D5"/>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r>
              <a:rPr sz="1500" b="1">
                <a:solidFill>
                  <a:srgbClr val="000000"/>
                </a:solidFill>
                <a:latin typeface="Times New Roman"/>
              </a:rPr>
              <a:t>Roll-up</a:t>
            </a:r>
          </a:p>
          <a:p>
            <a:pPr algn="l"/>
            <a:r>
              <a:rPr sz="1300" b="0">
                <a:solidFill>
                  <a:srgbClr val="000000"/>
                </a:solidFill>
                <a:latin typeface="Times New Roman"/>
              </a:rPr>
              <a:t>go up a level: day → month → year</a:t>
            </a:r>
          </a:p>
        </p:txBody>
      </p:sp>
      <p:sp>
        <p:nvSpPr>
          <p:cNvPr id="21" name="Rectangle 20"/>
          <p:cNvSpPr/>
          <p:nvPr/>
        </p:nvSpPr>
        <p:spPr>
          <a:xfrm>
            <a:off x="7589520" y="3291839"/>
            <a:ext cx="4069080" cy="841248"/>
          </a:xfrm>
          <a:prstGeom prst="rect">
            <a:avLst/>
          </a:prstGeom>
          <a:solidFill>
            <a:srgbClr val="FBE4D5"/>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r>
              <a:rPr sz="1500" b="1">
                <a:solidFill>
                  <a:srgbClr val="000000"/>
                </a:solidFill>
                <a:latin typeface="Times New Roman"/>
              </a:rPr>
              <a:t>Drill-down</a:t>
            </a:r>
          </a:p>
          <a:p>
            <a:pPr algn="l"/>
            <a:r>
              <a:rPr sz="1300" b="0">
                <a:solidFill>
                  <a:srgbClr val="000000"/>
                </a:solidFill>
                <a:latin typeface="Times New Roman"/>
              </a:rPr>
              <a:t>go down a level: year → quarter → month</a:t>
            </a:r>
          </a:p>
        </p:txBody>
      </p:sp>
      <p:sp>
        <p:nvSpPr>
          <p:cNvPr id="22" name="Rectangle 21"/>
          <p:cNvSpPr/>
          <p:nvPr/>
        </p:nvSpPr>
        <p:spPr>
          <a:xfrm>
            <a:off x="7589520" y="4251960"/>
            <a:ext cx="4069080" cy="841248"/>
          </a:xfrm>
          <a:prstGeom prst="rect">
            <a:avLst/>
          </a:prstGeom>
          <a:solidFill>
            <a:srgbClr val="FBE4D5"/>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r>
              <a:rPr sz="1500" b="1">
                <a:solidFill>
                  <a:srgbClr val="000000"/>
                </a:solidFill>
                <a:latin typeface="Times New Roman"/>
              </a:rPr>
              <a:t>Slice</a:t>
            </a:r>
          </a:p>
          <a:p>
            <a:pPr algn="l"/>
            <a:r>
              <a:rPr sz="1300" b="0">
                <a:solidFill>
                  <a:srgbClr val="000000"/>
                </a:solidFill>
                <a:latin typeface="Times New Roman"/>
              </a:rPr>
              <a:t>fix one dimension, e.g. only year 2025</a:t>
            </a:r>
          </a:p>
        </p:txBody>
      </p:sp>
      <p:sp>
        <p:nvSpPr>
          <p:cNvPr id="23" name="Rectangle 22"/>
          <p:cNvSpPr/>
          <p:nvPr/>
        </p:nvSpPr>
        <p:spPr>
          <a:xfrm>
            <a:off x="7589520" y="5212080"/>
            <a:ext cx="4069080" cy="841248"/>
          </a:xfrm>
          <a:prstGeom prst="rect">
            <a:avLst/>
          </a:prstGeom>
          <a:solidFill>
            <a:srgbClr val="FBE4D5"/>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r>
              <a:rPr sz="1500" b="1">
                <a:solidFill>
                  <a:srgbClr val="000000"/>
                </a:solidFill>
                <a:latin typeface="Times New Roman"/>
              </a:rPr>
              <a:t>Dice</a:t>
            </a:r>
          </a:p>
          <a:p>
            <a:pPr algn="l"/>
            <a:r>
              <a:rPr sz="1300" b="0">
                <a:solidFill>
                  <a:srgbClr val="000000"/>
                </a:solidFill>
                <a:latin typeface="Times New Roman"/>
              </a:rPr>
              <a:t>pick a sub-cube, e.g. 2025 and Electronics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PlaceHolder 1"/>
          <p:cNvSpPr>
            <a:spLocks noGrp="1"/>
          </p:cNvSpPr>
          <p:nvPr>
            <p:ph type="title"/>
          </p:nvPr>
        </p:nvSpPr>
        <p:spPr>
          <a:xfrm>
            <a:off x="838080" y="665280"/>
            <a:ext cx="10515600" cy="666720"/>
          </a:xfrm>
          <a:prstGeom prst="rect">
            <a:avLst/>
          </a:prstGeom>
          <a:noFill/>
          <a:ln w="0">
            <a:noFill/>
          </a:ln>
        </p:spPr>
        <p:txBody>
          <a:bodyPr lIns="91440" tIns="45720" rIns="91440" bIns="45720" anchor="ctr">
            <a:noAutofit/>
          </a:bodyPr>
          <a:lstStyle/>
          <a:p>
            <a:pPr indent="0" algn="ctr">
              <a:lnSpc>
                <a:spcPct val="9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000" b="0" strike="noStrike" spc="-1">
                <a:solidFill>
                  <a:srgbClr val="000000"/>
                </a:solidFill>
                <a:latin typeface="Times New Roman"/>
                <a:ea typeface="Times New Roman"/>
              </a:rPr>
              <a:t>KEY DIFFERENCES: OLTP vs OLAP</a:t>
            </a:r>
            <a:endParaRPr lang="en-US" sz="4000" b="0" strike="noStrike" spc="-1">
              <a:solidFill>
                <a:srgbClr val="000000"/>
              </a:solidFill>
              <a:latin typeface="Calibri Light"/>
            </a:endParaRPr>
          </a:p>
        </p:txBody>
      </p:sp>
      <p:pic>
        <p:nvPicPr>
          <p:cNvPr id="32" name="image3.png" descr="C:\Users\ADMIN\AppData\Local\Microsoft\Windows\INetCache\Content.MSO\C29DB0A6.tmp"/>
          <p:cNvPicPr/>
          <p:nvPr/>
        </p:nvPicPr>
        <p:blipFill>
          <a:blip r:embed="rId3"/>
          <a:stretch/>
        </p:blipFill>
        <p:spPr>
          <a:xfrm>
            <a:off x="2976480" y="52560"/>
            <a:ext cx="5313600" cy="544320"/>
          </a:xfrm>
          <a:prstGeom prst="rect">
            <a:avLst/>
          </a:prstGeom>
          <a:ln w="0">
            <a:noFill/>
          </a:ln>
        </p:spPr>
      </p:pic>
      <p:sp>
        <p:nvSpPr>
          <p:cNvPr id="34" name="Date Placeholder 6"/>
          <p:cNvSpPr/>
          <p:nvPr/>
        </p:nvSpPr>
        <p:spPr>
          <a:xfrm>
            <a:off x="838080" y="6356520"/>
            <a:ext cx="274320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strike="noStrike" spc="-1">
                <a:solidFill>
                  <a:srgbClr val="898989"/>
                </a:solidFill>
                <a:latin typeface="Calibri"/>
              </a:rPr>
              <a:t>10/13/2026</a:t>
            </a:r>
            <a:endParaRPr lang="en-US" sz="1200" b="0" strike="noStrike" spc="-1">
              <a:solidFill>
                <a:srgbClr val="000000"/>
              </a:solidFill>
              <a:latin typeface="Calibri"/>
            </a:endParaRPr>
          </a:p>
        </p:txBody>
      </p:sp>
      <p:sp>
        <p:nvSpPr>
          <p:cNvPr id="35" name="Footer Placeholder 7"/>
          <p:cNvSpPr/>
          <p:nvPr/>
        </p:nvSpPr>
        <p:spPr>
          <a:xfrm>
            <a:off x="4038480" y="6356520"/>
            <a:ext cx="411480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strike="noStrike" spc="-1">
                <a:solidFill>
                  <a:srgbClr val="898989"/>
                </a:solidFill>
                <a:latin typeface="Calibri"/>
              </a:rPr>
              <a:t>DATA WAREHOUSING AND DATA MINING</a:t>
            </a:r>
            <a:endParaRPr lang="en-US" sz="1200" b="0" strike="noStrike" spc="-1">
              <a:solidFill>
                <a:srgbClr val="000000"/>
              </a:solidFill>
              <a:latin typeface="Calibri"/>
            </a:endParaRPr>
          </a:p>
        </p:txBody>
      </p:sp>
      <p:sp>
        <p:nvSpPr>
          <p:cNvPr id="36" name="Slide Number Placeholder 8"/>
          <p:cNvSpPr/>
          <p:nvPr/>
        </p:nvSpPr>
        <p:spPr>
          <a:xfrm>
            <a:off x="8610480" y="6356520"/>
            <a:ext cx="274320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rmAutofit/>
          </a:bodyPr>
          <a:lstStyle/>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B80ADD40-5B0F-41DD-922B-F78F72B12EC2}" type="slidenum">
              <a:rPr lang="en-US" sz="1200" b="0" strike="noStrike" spc="-1">
                <a:solidFill>
                  <a:srgbClr val="898989"/>
                </a:solidFill>
                <a:latin typeface="Calibri"/>
              </a:rPr>
              <a:t>6</a:t>
            </a:fld>
            <a:endParaRPr lang="en-US" sz="1200" b="0" strike="noStrike" spc="-1">
              <a:solidFill>
                <a:srgbClr val="000000"/>
              </a:solidFill>
              <a:latin typeface="Calibri"/>
            </a:endParaRPr>
          </a:p>
        </p:txBody>
      </p:sp>
      <p:graphicFrame>
        <p:nvGraphicFramePr>
          <p:cNvPr id="37" name="Table 36"/>
          <p:cNvGraphicFramePr>
            <a:graphicFrameLocks noGrp="1"/>
          </p:cNvGraphicFramePr>
          <p:nvPr/>
        </p:nvGraphicFramePr>
        <p:xfrm>
          <a:off x="704088" y="1554480"/>
          <a:ext cx="10789920" cy="4114800"/>
        </p:xfrm>
        <a:graphic>
          <a:graphicData uri="http://schemas.openxmlformats.org/drawingml/2006/table">
            <a:tbl>
              <a:tblPr/>
              <a:tblGrid>
                <a:gridCol w="2011680">
                  <a:extLst>
                    <a:ext uri="{9D8B030D-6E8A-4147-A177-3AD203B41FA5}">
                      <a16:colId xmlns:a16="http://schemas.microsoft.com/office/drawing/2014/main" val="20000"/>
                    </a:ext>
                  </a:extLst>
                </a:gridCol>
                <a:gridCol w="4389120">
                  <a:extLst>
                    <a:ext uri="{9D8B030D-6E8A-4147-A177-3AD203B41FA5}">
                      <a16:colId xmlns:a16="http://schemas.microsoft.com/office/drawing/2014/main" val="20001"/>
                    </a:ext>
                  </a:extLst>
                </a:gridCol>
                <a:gridCol w="4389120">
                  <a:extLst>
                    <a:ext uri="{9D8B030D-6E8A-4147-A177-3AD203B41FA5}">
                      <a16:colId xmlns:a16="http://schemas.microsoft.com/office/drawing/2014/main" val="20002"/>
                    </a:ext>
                  </a:extLst>
                </a:gridCol>
              </a:tblGrid>
              <a:tr h="457200">
                <a:tc>
                  <a:txBody>
                    <a:bodyPr/>
                    <a:lstStyle/>
                    <a:p>
                      <a:pPr algn="ctr"/>
                      <a:r>
                        <a:rPr sz="1600" b="1">
                          <a:solidFill>
                            <a:srgbClr val="000000"/>
                          </a:solidFill>
                          <a:latin typeface="Times New Roman"/>
                          <a:ea typeface="Times New Roman"/>
                        </a:rPr>
                        <a:t>FEATURE</a:t>
                      </a:r>
                    </a:p>
                  </a:txBody>
                  <a:tcPr marL="70000" marR="70000" marT="30000" marB="30000" anchor="ctr">
                    <a:lnL w="12700">
                      <a:solidFill>
                        <a:srgbClr val="FFFFFF"/>
                      </a:solidFill>
                    </a:lnL>
                    <a:lnR w="12700">
                      <a:solidFill>
                        <a:srgbClr val="FFFFFF"/>
                      </a:solidFill>
                    </a:lnR>
                    <a:lnT w="12700">
                      <a:solidFill>
                        <a:srgbClr val="FFFFFF"/>
                      </a:solidFill>
                    </a:lnT>
                    <a:lnB w="12700">
                      <a:solidFill>
                        <a:srgbClr val="FFFFFF"/>
                      </a:solidFill>
                    </a:lnB>
                    <a:solidFill>
                      <a:srgbClr val="F4B183"/>
                    </a:solidFill>
                  </a:tcPr>
                </a:tc>
                <a:tc>
                  <a:txBody>
                    <a:bodyPr/>
                    <a:lstStyle/>
                    <a:p>
                      <a:pPr algn="ctr"/>
                      <a:r>
                        <a:rPr sz="1600" b="1">
                          <a:solidFill>
                            <a:srgbClr val="000000"/>
                          </a:solidFill>
                          <a:latin typeface="Times New Roman"/>
                          <a:ea typeface="Times New Roman"/>
                        </a:rPr>
                        <a:t>OPERATIONAL SYSTEM (OLTP)</a:t>
                      </a:r>
                    </a:p>
                  </a:txBody>
                  <a:tcPr marL="70000" marR="70000" marT="30000" marB="30000" anchor="ctr">
                    <a:lnL w="12700">
                      <a:solidFill>
                        <a:srgbClr val="FFFFFF"/>
                      </a:solidFill>
                    </a:lnL>
                    <a:lnR w="12700">
                      <a:solidFill>
                        <a:srgbClr val="FFFFFF"/>
                      </a:solidFill>
                    </a:lnR>
                    <a:lnT w="12700">
                      <a:solidFill>
                        <a:srgbClr val="FFFFFF"/>
                      </a:solidFill>
                    </a:lnT>
                    <a:lnB w="12700">
                      <a:solidFill>
                        <a:srgbClr val="FFFFFF"/>
                      </a:solidFill>
                    </a:lnB>
                    <a:solidFill>
                      <a:srgbClr val="F4B183"/>
                    </a:solidFill>
                  </a:tcPr>
                </a:tc>
                <a:tc>
                  <a:txBody>
                    <a:bodyPr/>
                    <a:lstStyle/>
                    <a:p>
                      <a:pPr algn="ctr"/>
                      <a:r>
                        <a:rPr sz="1600" b="1">
                          <a:solidFill>
                            <a:srgbClr val="000000"/>
                          </a:solidFill>
                          <a:latin typeface="Times New Roman"/>
                          <a:ea typeface="Times New Roman"/>
                        </a:rPr>
                        <a:t>DECISION SUPPORT SYSTEM (OLAP)</a:t>
                      </a:r>
                    </a:p>
                  </a:txBody>
                  <a:tcPr marL="70000" marR="70000" marT="30000" marB="30000" anchor="ctr">
                    <a:lnL w="12700">
                      <a:solidFill>
                        <a:srgbClr val="FFFFFF"/>
                      </a:solidFill>
                    </a:lnL>
                    <a:lnR w="12700">
                      <a:solidFill>
                        <a:srgbClr val="FFFFFF"/>
                      </a:solidFill>
                    </a:lnR>
                    <a:lnT w="12700">
                      <a:solidFill>
                        <a:srgbClr val="FFFFFF"/>
                      </a:solidFill>
                    </a:lnT>
                    <a:lnB w="12700">
                      <a:solidFill>
                        <a:srgbClr val="FFFFFF"/>
                      </a:solidFill>
                    </a:lnB>
                    <a:solidFill>
                      <a:srgbClr val="F4B183"/>
                    </a:solidFill>
                  </a:tcPr>
                </a:tc>
                <a:extLst>
                  <a:ext uri="{0D108BD9-81ED-4DB2-BD59-A6C34878D82A}">
                    <a16:rowId xmlns:a16="http://schemas.microsoft.com/office/drawing/2014/main" val="10000"/>
                  </a:ext>
                </a:extLst>
              </a:tr>
              <a:tr h="457200">
                <a:tc>
                  <a:txBody>
                    <a:bodyPr/>
                    <a:lstStyle/>
                    <a:p>
                      <a:pPr algn="l"/>
                      <a:r>
                        <a:rPr sz="1600" b="1">
                          <a:solidFill>
                            <a:srgbClr val="000000"/>
                          </a:solidFill>
                          <a:latin typeface="Times New Roman"/>
                          <a:ea typeface="Times New Roman"/>
                        </a:rPr>
                        <a:t>Purpose</a:t>
                      </a:r>
                    </a:p>
                  </a:txBody>
                  <a:tcPr marL="70000" marR="70000" marT="30000" marB="30000" anchor="ctr">
                    <a:lnL w="12700">
                      <a:solidFill>
                        <a:srgbClr val="FFFFFF"/>
                      </a:solidFill>
                    </a:lnL>
                    <a:lnR w="12700">
                      <a:solidFill>
                        <a:srgbClr val="FFFFFF"/>
                      </a:solidFill>
                    </a:lnR>
                    <a:lnT w="12700">
                      <a:solidFill>
                        <a:srgbClr val="FFFFFF"/>
                      </a:solidFill>
                    </a:lnT>
                    <a:lnB w="12700">
                      <a:solidFill>
                        <a:srgbClr val="FFFFFF"/>
                      </a:solidFill>
                    </a:lnB>
                    <a:solidFill>
                      <a:srgbClr val="FBE4D5"/>
                    </a:solidFill>
                  </a:tcPr>
                </a:tc>
                <a:tc>
                  <a:txBody>
                    <a:bodyPr/>
                    <a:lstStyle/>
                    <a:p>
                      <a:pPr algn="l"/>
                      <a:r>
                        <a:rPr sz="1600" b="0">
                          <a:solidFill>
                            <a:srgbClr val="000000"/>
                          </a:solidFill>
                          <a:latin typeface="Times New Roman"/>
                          <a:ea typeface="Times New Roman"/>
                        </a:rPr>
                        <a:t>Run day-to-day business</a:t>
                      </a:r>
                    </a:p>
                  </a:txBody>
                  <a:tcPr marL="70000" marR="70000" marT="30000" marB="30000" anchor="ctr">
                    <a:lnL w="12700">
                      <a:solidFill>
                        <a:srgbClr val="FFFFFF"/>
                      </a:solidFill>
                    </a:lnL>
                    <a:lnR w="12700">
                      <a:solidFill>
                        <a:srgbClr val="FFFFFF"/>
                      </a:solidFill>
                    </a:lnR>
                    <a:lnT w="12700">
                      <a:solidFill>
                        <a:srgbClr val="FFFFFF"/>
                      </a:solidFill>
                    </a:lnT>
                    <a:lnB w="12700">
                      <a:solidFill>
                        <a:srgbClr val="FFFFFF"/>
                      </a:solidFill>
                    </a:lnB>
                    <a:solidFill>
                      <a:srgbClr val="FBE4D5"/>
                    </a:solidFill>
                  </a:tcPr>
                </a:tc>
                <a:tc>
                  <a:txBody>
                    <a:bodyPr/>
                    <a:lstStyle/>
                    <a:p>
                      <a:pPr algn="l"/>
                      <a:r>
                        <a:rPr sz="1600" b="0">
                          <a:solidFill>
                            <a:srgbClr val="000000"/>
                          </a:solidFill>
                          <a:latin typeface="Times New Roman"/>
                          <a:ea typeface="Times New Roman"/>
                        </a:rPr>
                        <a:t>Analyse data and support decisions</a:t>
                      </a:r>
                    </a:p>
                  </a:txBody>
                  <a:tcPr marL="70000" marR="70000" marT="30000" marB="30000" anchor="ctr">
                    <a:lnL w="12700">
                      <a:solidFill>
                        <a:srgbClr val="FFFFFF"/>
                      </a:solidFill>
                    </a:lnL>
                    <a:lnR w="12700">
                      <a:solidFill>
                        <a:srgbClr val="FFFFFF"/>
                      </a:solidFill>
                    </a:lnR>
                    <a:lnT w="12700">
                      <a:solidFill>
                        <a:srgbClr val="FFFFFF"/>
                      </a:solidFill>
                    </a:lnT>
                    <a:lnB w="12700">
                      <a:solidFill>
                        <a:srgbClr val="FFFFFF"/>
                      </a:solidFill>
                    </a:lnB>
                    <a:solidFill>
                      <a:srgbClr val="FBE4D5"/>
                    </a:solidFill>
                  </a:tcPr>
                </a:tc>
                <a:extLst>
                  <a:ext uri="{0D108BD9-81ED-4DB2-BD59-A6C34878D82A}">
                    <a16:rowId xmlns:a16="http://schemas.microsoft.com/office/drawing/2014/main" val="10001"/>
                  </a:ext>
                </a:extLst>
              </a:tr>
              <a:tr h="457200">
                <a:tc>
                  <a:txBody>
                    <a:bodyPr/>
                    <a:lstStyle/>
                    <a:p>
                      <a:pPr algn="l"/>
                      <a:r>
                        <a:rPr sz="1600" b="1">
                          <a:solidFill>
                            <a:srgbClr val="000000"/>
                          </a:solidFill>
                          <a:latin typeface="Times New Roman"/>
                          <a:ea typeface="Times New Roman"/>
                        </a:rPr>
                        <a:t>Users</a:t>
                      </a:r>
                    </a:p>
                  </a:txBody>
                  <a:tcPr marL="70000" marR="70000" marT="30000" marB="30000" anchor="ctr">
                    <a:lnL w="12700">
                      <a:solidFill>
                        <a:srgbClr val="FFFFFF"/>
                      </a:solidFill>
                    </a:lnL>
                    <a:lnR w="12700">
                      <a:solidFill>
                        <a:srgbClr val="FFFFFF"/>
                      </a:solidFill>
                    </a:lnR>
                    <a:lnT w="12700">
                      <a:solidFill>
                        <a:srgbClr val="FFFFFF"/>
                      </a:solidFill>
                    </a:lnT>
                    <a:lnB w="12700">
                      <a:solidFill>
                        <a:srgbClr val="FFFFFF"/>
                      </a:solidFill>
                    </a:lnB>
                    <a:solidFill>
                      <a:srgbClr val="FBE4D5"/>
                    </a:solidFill>
                  </a:tcPr>
                </a:tc>
                <a:tc>
                  <a:txBody>
                    <a:bodyPr/>
                    <a:lstStyle/>
                    <a:p>
                      <a:pPr algn="l"/>
                      <a:r>
                        <a:rPr sz="1600" b="0">
                          <a:solidFill>
                            <a:srgbClr val="000000"/>
                          </a:solidFill>
                          <a:latin typeface="Times New Roman"/>
                          <a:ea typeface="Times New Roman"/>
                        </a:rPr>
                        <a:t>Clerks, cashiers, customers, DBAs</a:t>
                      </a:r>
                    </a:p>
                  </a:txBody>
                  <a:tcPr marL="70000" marR="70000" marT="30000" marB="30000" anchor="ctr">
                    <a:lnL w="12700">
                      <a:solidFill>
                        <a:srgbClr val="FFFFFF"/>
                      </a:solidFill>
                    </a:lnL>
                    <a:lnR w="12700">
                      <a:solidFill>
                        <a:srgbClr val="FFFFFF"/>
                      </a:solidFill>
                    </a:lnR>
                    <a:lnT w="12700">
                      <a:solidFill>
                        <a:srgbClr val="FFFFFF"/>
                      </a:solidFill>
                    </a:lnT>
                    <a:lnB w="12700">
                      <a:solidFill>
                        <a:srgbClr val="FFFFFF"/>
                      </a:solidFill>
                    </a:lnB>
                    <a:solidFill>
                      <a:srgbClr val="FBE4D5"/>
                    </a:solidFill>
                  </a:tcPr>
                </a:tc>
                <a:tc>
                  <a:txBody>
                    <a:bodyPr/>
                    <a:lstStyle/>
                    <a:p>
                      <a:pPr algn="l"/>
                      <a:r>
                        <a:rPr sz="1600" b="0">
                          <a:solidFill>
                            <a:srgbClr val="000000"/>
                          </a:solidFill>
                          <a:latin typeface="Times New Roman"/>
                          <a:ea typeface="Times New Roman"/>
                        </a:rPr>
                        <a:t>Managers, analysts, executives</a:t>
                      </a:r>
                    </a:p>
                  </a:txBody>
                  <a:tcPr marL="70000" marR="70000" marT="30000" marB="30000" anchor="ctr">
                    <a:lnL w="12700">
                      <a:solidFill>
                        <a:srgbClr val="FFFFFF"/>
                      </a:solidFill>
                    </a:lnL>
                    <a:lnR w="12700">
                      <a:solidFill>
                        <a:srgbClr val="FFFFFF"/>
                      </a:solidFill>
                    </a:lnR>
                    <a:lnT w="12700">
                      <a:solidFill>
                        <a:srgbClr val="FFFFFF"/>
                      </a:solidFill>
                    </a:lnT>
                    <a:lnB w="12700">
                      <a:solidFill>
                        <a:srgbClr val="FFFFFF"/>
                      </a:solidFill>
                    </a:lnB>
                    <a:solidFill>
                      <a:srgbClr val="FBE4D5"/>
                    </a:solidFill>
                  </a:tcPr>
                </a:tc>
                <a:extLst>
                  <a:ext uri="{0D108BD9-81ED-4DB2-BD59-A6C34878D82A}">
                    <a16:rowId xmlns:a16="http://schemas.microsoft.com/office/drawing/2014/main" val="10002"/>
                  </a:ext>
                </a:extLst>
              </a:tr>
              <a:tr h="457200">
                <a:tc>
                  <a:txBody>
                    <a:bodyPr/>
                    <a:lstStyle/>
                    <a:p>
                      <a:pPr algn="l"/>
                      <a:r>
                        <a:rPr sz="1600" b="1">
                          <a:solidFill>
                            <a:srgbClr val="000000"/>
                          </a:solidFill>
                          <a:latin typeface="Times New Roman"/>
                          <a:ea typeface="Times New Roman"/>
                        </a:rPr>
                        <a:t>Data</a:t>
                      </a:r>
                    </a:p>
                  </a:txBody>
                  <a:tcPr marL="70000" marR="70000" marT="30000" marB="30000" anchor="ctr">
                    <a:lnL w="12700">
                      <a:solidFill>
                        <a:srgbClr val="FFFFFF"/>
                      </a:solidFill>
                    </a:lnL>
                    <a:lnR w="12700">
                      <a:solidFill>
                        <a:srgbClr val="FFFFFF"/>
                      </a:solidFill>
                    </a:lnR>
                    <a:lnT w="12700">
                      <a:solidFill>
                        <a:srgbClr val="FFFFFF"/>
                      </a:solidFill>
                    </a:lnT>
                    <a:lnB w="12700">
                      <a:solidFill>
                        <a:srgbClr val="FFFFFF"/>
                      </a:solidFill>
                    </a:lnB>
                    <a:solidFill>
                      <a:srgbClr val="FBE4D5"/>
                    </a:solidFill>
                  </a:tcPr>
                </a:tc>
                <a:tc>
                  <a:txBody>
                    <a:bodyPr/>
                    <a:lstStyle/>
                    <a:p>
                      <a:pPr algn="l"/>
                      <a:r>
                        <a:rPr sz="1600" b="0">
                          <a:solidFill>
                            <a:srgbClr val="000000"/>
                          </a:solidFill>
                          <a:latin typeface="Times New Roman"/>
                          <a:ea typeface="Times New Roman"/>
                        </a:rPr>
                        <a:t>Current, detailed, up to date</a:t>
                      </a:r>
                    </a:p>
                  </a:txBody>
                  <a:tcPr marL="70000" marR="70000" marT="30000" marB="30000" anchor="ctr">
                    <a:lnL w="12700">
                      <a:solidFill>
                        <a:srgbClr val="FFFFFF"/>
                      </a:solidFill>
                    </a:lnL>
                    <a:lnR w="12700">
                      <a:solidFill>
                        <a:srgbClr val="FFFFFF"/>
                      </a:solidFill>
                    </a:lnR>
                    <a:lnT w="12700">
                      <a:solidFill>
                        <a:srgbClr val="FFFFFF"/>
                      </a:solidFill>
                    </a:lnT>
                    <a:lnB w="12700">
                      <a:solidFill>
                        <a:srgbClr val="FFFFFF"/>
                      </a:solidFill>
                    </a:lnB>
                    <a:solidFill>
                      <a:srgbClr val="FBE4D5"/>
                    </a:solidFill>
                  </a:tcPr>
                </a:tc>
                <a:tc>
                  <a:txBody>
                    <a:bodyPr/>
                    <a:lstStyle/>
                    <a:p>
                      <a:pPr algn="l"/>
                      <a:r>
                        <a:rPr sz="1600" b="0">
                          <a:solidFill>
                            <a:srgbClr val="000000"/>
                          </a:solidFill>
                          <a:latin typeface="Times New Roman"/>
                          <a:ea typeface="Times New Roman"/>
                        </a:rPr>
                        <a:t>Historical, summarized, consolidated</a:t>
                      </a:r>
                    </a:p>
                  </a:txBody>
                  <a:tcPr marL="70000" marR="70000" marT="30000" marB="30000" anchor="ctr">
                    <a:lnL w="12700">
                      <a:solidFill>
                        <a:srgbClr val="FFFFFF"/>
                      </a:solidFill>
                    </a:lnL>
                    <a:lnR w="12700">
                      <a:solidFill>
                        <a:srgbClr val="FFFFFF"/>
                      </a:solidFill>
                    </a:lnR>
                    <a:lnT w="12700">
                      <a:solidFill>
                        <a:srgbClr val="FFFFFF"/>
                      </a:solidFill>
                    </a:lnT>
                    <a:lnB w="12700">
                      <a:solidFill>
                        <a:srgbClr val="FFFFFF"/>
                      </a:solidFill>
                    </a:lnB>
                    <a:solidFill>
                      <a:srgbClr val="FBE4D5"/>
                    </a:solidFill>
                  </a:tcPr>
                </a:tc>
                <a:extLst>
                  <a:ext uri="{0D108BD9-81ED-4DB2-BD59-A6C34878D82A}">
                    <a16:rowId xmlns:a16="http://schemas.microsoft.com/office/drawing/2014/main" val="10003"/>
                  </a:ext>
                </a:extLst>
              </a:tr>
              <a:tr h="457200">
                <a:tc>
                  <a:txBody>
                    <a:bodyPr/>
                    <a:lstStyle/>
                    <a:p>
                      <a:pPr algn="l"/>
                      <a:r>
                        <a:rPr sz="1600" b="1">
                          <a:solidFill>
                            <a:srgbClr val="000000"/>
                          </a:solidFill>
                          <a:latin typeface="Times New Roman"/>
                          <a:ea typeface="Times New Roman"/>
                        </a:rPr>
                        <a:t>Data model</a:t>
                      </a:r>
                    </a:p>
                  </a:txBody>
                  <a:tcPr marL="70000" marR="70000" marT="30000" marB="30000" anchor="ctr">
                    <a:lnL w="12700">
                      <a:solidFill>
                        <a:srgbClr val="FFFFFF"/>
                      </a:solidFill>
                    </a:lnL>
                    <a:lnR w="12700">
                      <a:solidFill>
                        <a:srgbClr val="FFFFFF"/>
                      </a:solidFill>
                    </a:lnR>
                    <a:lnT w="12700">
                      <a:solidFill>
                        <a:srgbClr val="FFFFFF"/>
                      </a:solidFill>
                    </a:lnT>
                    <a:lnB w="12700">
                      <a:solidFill>
                        <a:srgbClr val="FFFFFF"/>
                      </a:solidFill>
                    </a:lnB>
                    <a:solidFill>
                      <a:srgbClr val="FBE4D5"/>
                    </a:solidFill>
                  </a:tcPr>
                </a:tc>
                <a:tc>
                  <a:txBody>
                    <a:bodyPr/>
                    <a:lstStyle/>
                    <a:p>
                      <a:pPr algn="l"/>
                      <a:r>
                        <a:rPr sz="1600" b="0">
                          <a:solidFill>
                            <a:srgbClr val="000000"/>
                          </a:solidFill>
                          <a:latin typeface="Times New Roman"/>
                          <a:ea typeface="Times New Roman"/>
                        </a:rPr>
                        <a:t>Normalized (ER model, 3NF)</a:t>
                      </a:r>
                    </a:p>
                  </a:txBody>
                  <a:tcPr marL="70000" marR="70000" marT="30000" marB="30000" anchor="ctr">
                    <a:lnL w="12700">
                      <a:solidFill>
                        <a:srgbClr val="FFFFFF"/>
                      </a:solidFill>
                    </a:lnL>
                    <a:lnR w="12700">
                      <a:solidFill>
                        <a:srgbClr val="FFFFFF"/>
                      </a:solidFill>
                    </a:lnR>
                    <a:lnT w="12700">
                      <a:solidFill>
                        <a:srgbClr val="FFFFFF"/>
                      </a:solidFill>
                    </a:lnT>
                    <a:lnB w="12700">
                      <a:solidFill>
                        <a:srgbClr val="FFFFFF"/>
                      </a:solidFill>
                    </a:lnB>
                    <a:solidFill>
                      <a:srgbClr val="FBE4D5"/>
                    </a:solidFill>
                  </a:tcPr>
                </a:tc>
                <a:tc>
                  <a:txBody>
                    <a:bodyPr/>
                    <a:lstStyle/>
                    <a:p>
                      <a:pPr algn="l"/>
                      <a:r>
                        <a:rPr sz="1600" b="0">
                          <a:solidFill>
                            <a:srgbClr val="000000"/>
                          </a:solidFill>
                          <a:latin typeface="Times New Roman"/>
                          <a:ea typeface="Times New Roman"/>
                        </a:rPr>
                        <a:t>Dimensional (star / snowflake schema)</a:t>
                      </a:r>
                    </a:p>
                  </a:txBody>
                  <a:tcPr marL="70000" marR="70000" marT="30000" marB="30000" anchor="ctr">
                    <a:lnL w="12700">
                      <a:solidFill>
                        <a:srgbClr val="FFFFFF"/>
                      </a:solidFill>
                    </a:lnL>
                    <a:lnR w="12700">
                      <a:solidFill>
                        <a:srgbClr val="FFFFFF"/>
                      </a:solidFill>
                    </a:lnR>
                    <a:lnT w="12700">
                      <a:solidFill>
                        <a:srgbClr val="FFFFFF"/>
                      </a:solidFill>
                    </a:lnT>
                    <a:lnB w="12700">
                      <a:solidFill>
                        <a:srgbClr val="FFFFFF"/>
                      </a:solidFill>
                    </a:lnB>
                    <a:solidFill>
                      <a:srgbClr val="FBE4D5"/>
                    </a:solidFill>
                  </a:tcPr>
                </a:tc>
                <a:extLst>
                  <a:ext uri="{0D108BD9-81ED-4DB2-BD59-A6C34878D82A}">
                    <a16:rowId xmlns:a16="http://schemas.microsoft.com/office/drawing/2014/main" val="10004"/>
                  </a:ext>
                </a:extLst>
              </a:tr>
              <a:tr h="457200">
                <a:tc>
                  <a:txBody>
                    <a:bodyPr/>
                    <a:lstStyle/>
                    <a:p>
                      <a:pPr algn="l"/>
                      <a:r>
                        <a:rPr sz="1600" b="1">
                          <a:solidFill>
                            <a:srgbClr val="000000"/>
                          </a:solidFill>
                          <a:latin typeface="Times New Roman"/>
                          <a:ea typeface="Times New Roman"/>
                        </a:rPr>
                        <a:t>Operations</a:t>
                      </a:r>
                    </a:p>
                  </a:txBody>
                  <a:tcPr marL="70000" marR="70000" marT="30000" marB="30000" anchor="ctr">
                    <a:lnL w="12700">
                      <a:solidFill>
                        <a:srgbClr val="FFFFFF"/>
                      </a:solidFill>
                    </a:lnL>
                    <a:lnR w="12700">
                      <a:solidFill>
                        <a:srgbClr val="FFFFFF"/>
                      </a:solidFill>
                    </a:lnR>
                    <a:lnT w="12700">
                      <a:solidFill>
                        <a:srgbClr val="FFFFFF"/>
                      </a:solidFill>
                    </a:lnT>
                    <a:lnB w="12700">
                      <a:solidFill>
                        <a:srgbClr val="FFFFFF"/>
                      </a:solidFill>
                    </a:lnB>
                    <a:solidFill>
                      <a:srgbClr val="FBE4D5"/>
                    </a:solidFill>
                  </a:tcPr>
                </a:tc>
                <a:tc>
                  <a:txBody>
                    <a:bodyPr/>
                    <a:lstStyle/>
                    <a:p>
                      <a:pPr algn="l"/>
                      <a:r>
                        <a:rPr sz="1600" b="0">
                          <a:solidFill>
                            <a:srgbClr val="000000"/>
                          </a:solidFill>
                          <a:latin typeface="Times New Roman"/>
                          <a:ea typeface="Times New Roman"/>
                        </a:rPr>
                        <a:t>Insert, update, delete, read</a:t>
                      </a:r>
                    </a:p>
                  </a:txBody>
                  <a:tcPr marL="70000" marR="70000" marT="30000" marB="30000" anchor="ctr">
                    <a:lnL w="12700">
                      <a:solidFill>
                        <a:srgbClr val="FFFFFF"/>
                      </a:solidFill>
                    </a:lnL>
                    <a:lnR w="12700">
                      <a:solidFill>
                        <a:srgbClr val="FFFFFF"/>
                      </a:solidFill>
                    </a:lnR>
                    <a:lnT w="12700">
                      <a:solidFill>
                        <a:srgbClr val="FFFFFF"/>
                      </a:solidFill>
                    </a:lnT>
                    <a:lnB w="12700">
                      <a:solidFill>
                        <a:srgbClr val="FFFFFF"/>
                      </a:solidFill>
                    </a:lnB>
                    <a:solidFill>
                      <a:srgbClr val="FBE4D5"/>
                    </a:solidFill>
                  </a:tcPr>
                </a:tc>
                <a:tc>
                  <a:txBody>
                    <a:bodyPr/>
                    <a:lstStyle/>
                    <a:p>
                      <a:pPr algn="l"/>
                      <a:r>
                        <a:rPr sz="1600" b="0">
                          <a:solidFill>
                            <a:srgbClr val="000000"/>
                          </a:solidFill>
                          <a:latin typeface="Times New Roman"/>
                          <a:ea typeface="Times New Roman"/>
                        </a:rPr>
                        <a:t>Mostly read-only (select, aggregate)</a:t>
                      </a:r>
                    </a:p>
                  </a:txBody>
                  <a:tcPr marL="70000" marR="70000" marT="30000" marB="30000" anchor="ctr">
                    <a:lnL w="12700">
                      <a:solidFill>
                        <a:srgbClr val="FFFFFF"/>
                      </a:solidFill>
                    </a:lnL>
                    <a:lnR w="12700">
                      <a:solidFill>
                        <a:srgbClr val="FFFFFF"/>
                      </a:solidFill>
                    </a:lnR>
                    <a:lnT w="12700">
                      <a:solidFill>
                        <a:srgbClr val="FFFFFF"/>
                      </a:solidFill>
                    </a:lnT>
                    <a:lnB w="12700">
                      <a:solidFill>
                        <a:srgbClr val="FFFFFF"/>
                      </a:solidFill>
                    </a:lnB>
                    <a:solidFill>
                      <a:srgbClr val="FBE4D5"/>
                    </a:solidFill>
                  </a:tcPr>
                </a:tc>
                <a:extLst>
                  <a:ext uri="{0D108BD9-81ED-4DB2-BD59-A6C34878D82A}">
                    <a16:rowId xmlns:a16="http://schemas.microsoft.com/office/drawing/2014/main" val="10005"/>
                  </a:ext>
                </a:extLst>
              </a:tr>
              <a:tr h="457200">
                <a:tc>
                  <a:txBody>
                    <a:bodyPr/>
                    <a:lstStyle/>
                    <a:p>
                      <a:pPr algn="l"/>
                      <a:r>
                        <a:rPr sz="1600" b="1">
                          <a:solidFill>
                            <a:srgbClr val="000000"/>
                          </a:solidFill>
                          <a:latin typeface="Times New Roman"/>
                          <a:ea typeface="Times New Roman"/>
                        </a:rPr>
                        <a:t>Orientation</a:t>
                      </a:r>
                    </a:p>
                  </a:txBody>
                  <a:tcPr marL="70000" marR="70000" marT="30000" marB="30000" anchor="ctr">
                    <a:lnL w="12700">
                      <a:solidFill>
                        <a:srgbClr val="FFFFFF"/>
                      </a:solidFill>
                    </a:lnL>
                    <a:lnR w="12700">
                      <a:solidFill>
                        <a:srgbClr val="FFFFFF"/>
                      </a:solidFill>
                    </a:lnR>
                    <a:lnT w="12700">
                      <a:solidFill>
                        <a:srgbClr val="FFFFFF"/>
                      </a:solidFill>
                    </a:lnT>
                    <a:lnB w="12700">
                      <a:solidFill>
                        <a:srgbClr val="FFFFFF"/>
                      </a:solidFill>
                    </a:lnB>
                    <a:solidFill>
                      <a:srgbClr val="FBE4D5"/>
                    </a:solidFill>
                  </a:tcPr>
                </a:tc>
                <a:tc>
                  <a:txBody>
                    <a:bodyPr/>
                    <a:lstStyle/>
                    <a:p>
                      <a:pPr algn="l"/>
                      <a:r>
                        <a:rPr sz="1600" b="0">
                          <a:solidFill>
                            <a:srgbClr val="000000"/>
                          </a:solidFill>
                          <a:latin typeface="Times New Roman"/>
                          <a:ea typeface="Times New Roman"/>
                        </a:rPr>
                        <a:t>Application / transaction oriented</a:t>
                      </a:r>
                    </a:p>
                  </a:txBody>
                  <a:tcPr marL="70000" marR="70000" marT="30000" marB="30000" anchor="ctr">
                    <a:lnL w="12700">
                      <a:solidFill>
                        <a:srgbClr val="FFFFFF"/>
                      </a:solidFill>
                    </a:lnL>
                    <a:lnR w="12700">
                      <a:solidFill>
                        <a:srgbClr val="FFFFFF"/>
                      </a:solidFill>
                    </a:lnR>
                    <a:lnT w="12700">
                      <a:solidFill>
                        <a:srgbClr val="FFFFFF"/>
                      </a:solidFill>
                    </a:lnT>
                    <a:lnB w="12700">
                      <a:solidFill>
                        <a:srgbClr val="FFFFFF"/>
                      </a:solidFill>
                    </a:lnB>
                    <a:solidFill>
                      <a:srgbClr val="FBE4D5"/>
                    </a:solidFill>
                  </a:tcPr>
                </a:tc>
                <a:tc>
                  <a:txBody>
                    <a:bodyPr/>
                    <a:lstStyle/>
                    <a:p>
                      <a:pPr algn="l"/>
                      <a:r>
                        <a:rPr sz="1600" b="0">
                          <a:solidFill>
                            <a:srgbClr val="000000"/>
                          </a:solidFill>
                          <a:latin typeface="Times New Roman"/>
                          <a:ea typeface="Times New Roman"/>
                        </a:rPr>
                        <a:t>Subject oriented</a:t>
                      </a:r>
                    </a:p>
                  </a:txBody>
                  <a:tcPr marL="70000" marR="70000" marT="30000" marB="30000" anchor="ctr">
                    <a:lnL w="12700">
                      <a:solidFill>
                        <a:srgbClr val="FFFFFF"/>
                      </a:solidFill>
                    </a:lnL>
                    <a:lnR w="12700">
                      <a:solidFill>
                        <a:srgbClr val="FFFFFF"/>
                      </a:solidFill>
                    </a:lnR>
                    <a:lnT w="12700">
                      <a:solidFill>
                        <a:srgbClr val="FFFFFF"/>
                      </a:solidFill>
                    </a:lnT>
                    <a:lnB w="12700">
                      <a:solidFill>
                        <a:srgbClr val="FFFFFF"/>
                      </a:solidFill>
                    </a:lnB>
                    <a:solidFill>
                      <a:srgbClr val="FBE4D5"/>
                    </a:solidFill>
                  </a:tcPr>
                </a:tc>
                <a:extLst>
                  <a:ext uri="{0D108BD9-81ED-4DB2-BD59-A6C34878D82A}">
                    <a16:rowId xmlns:a16="http://schemas.microsoft.com/office/drawing/2014/main" val="10006"/>
                  </a:ext>
                </a:extLst>
              </a:tr>
              <a:tr h="457200">
                <a:tc>
                  <a:txBody>
                    <a:bodyPr/>
                    <a:lstStyle/>
                    <a:p>
                      <a:pPr algn="l"/>
                      <a:r>
                        <a:rPr sz="1600" b="1">
                          <a:solidFill>
                            <a:srgbClr val="000000"/>
                          </a:solidFill>
                          <a:latin typeface="Times New Roman"/>
                          <a:ea typeface="Times New Roman"/>
                        </a:rPr>
                        <a:t>Data source</a:t>
                      </a:r>
                    </a:p>
                  </a:txBody>
                  <a:tcPr marL="70000" marR="70000" marT="30000" marB="30000" anchor="ctr">
                    <a:lnL w="12700">
                      <a:solidFill>
                        <a:srgbClr val="FFFFFF"/>
                      </a:solidFill>
                    </a:lnL>
                    <a:lnR w="12700">
                      <a:solidFill>
                        <a:srgbClr val="FFFFFF"/>
                      </a:solidFill>
                    </a:lnR>
                    <a:lnT w="12700">
                      <a:solidFill>
                        <a:srgbClr val="FFFFFF"/>
                      </a:solidFill>
                    </a:lnT>
                    <a:lnB w="12700">
                      <a:solidFill>
                        <a:srgbClr val="FFFFFF"/>
                      </a:solidFill>
                    </a:lnB>
                    <a:solidFill>
                      <a:srgbClr val="FBE4D5"/>
                    </a:solidFill>
                  </a:tcPr>
                </a:tc>
                <a:tc>
                  <a:txBody>
                    <a:bodyPr/>
                    <a:lstStyle/>
                    <a:p>
                      <a:pPr algn="l"/>
                      <a:r>
                        <a:rPr sz="1600" b="0">
                          <a:solidFill>
                            <a:srgbClr val="000000"/>
                          </a:solidFill>
                          <a:latin typeface="Times New Roman"/>
                          <a:ea typeface="Times New Roman"/>
                        </a:rPr>
                        <a:t>Original source of the data</a:t>
                      </a:r>
                    </a:p>
                  </a:txBody>
                  <a:tcPr marL="70000" marR="70000" marT="30000" marB="30000" anchor="ctr">
                    <a:lnL w="12700">
                      <a:solidFill>
                        <a:srgbClr val="FFFFFF"/>
                      </a:solidFill>
                    </a:lnL>
                    <a:lnR w="12700">
                      <a:solidFill>
                        <a:srgbClr val="FFFFFF"/>
                      </a:solidFill>
                    </a:lnR>
                    <a:lnT w="12700">
                      <a:solidFill>
                        <a:srgbClr val="FFFFFF"/>
                      </a:solidFill>
                    </a:lnT>
                    <a:lnB w="12700">
                      <a:solidFill>
                        <a:srgbClr val="FFFFFF"/>
                      </a:solidFill>
                    </a:lnB>
                    <a:solidFill>
                      <a:srgbClr val="FBE4D5"/>
                    </a:solidFill>
                  </a:tcPr>
                </a:tc>
                <a:tc>
                  <a:txBody>
                    <a:bodyPr/>
                    <a:lstStyle/>
                    <a:p>
                      <a:pPr algn="l"/>
                      <a:r>
                        <a:rPr sz="1600" b="0">
                          <a:solidFill>
                            <a:srgbClr val="000000"/>
                          </a:solidFill>
                          <a:latin typeface="Times New Roman"/>
                          <a:ea typeface="Times New Roman"/>
                        </a:rPr>
                        <a:t>Collected from many OLTP sources via ETL</a:t>
                      </a:r>
                    </a:p>
                  </a:txBody>
                  <a:tcPr marL="70000" marR="70000" marT="30000" marB="30000" anchor="ctr">
                    <a:lnL w="12700">
                      <a:solidFill>
                        <a:srgbClr val="FFFFFF"/>
                      </a:solidFill>
                    </a:lnL>
                    <a:lnR w="12700">
                      <a:solidFill>
                        <a:srgbClr val="FFFFFF"/>
                      </a:solidFill>
                    </a:lnR>
                    <a:lnT w="12700">
                      <a:solidFill>
                        <a:srgbClr val="FFFFFF"/>
                      </a:solidFill>
                    </a:lnT>
                    <a:lnB w="12700">
                      <a:solidFill>
                        <a:srgbClr val="FFFFFF"/>
                      </a:solidFill>
                    </a:lnB>
                    <a:solidFill>
                      <a:srgbClr val="FBE4D5"/>
                    </a:solidFill>
                  </a:tcPr>
                </a:tc>
                <a:extLst>
                  <a:ext uri="{0D108BD9-81ED-4DB2-BD59-A6C34878D82A}">
                    <a16:rowId xmlns:a16="http://schemas.microsoft.com/office/drawing/2014/main" val="10007"/>
                  </a:ext>
                </a:extLst>
              </a:tr>
              <a:tr h="457200">
                <a:tc>
                  <a:txBody>
                    <a:bodyPr/>
                    <a:lstStyle/>
                    <a:p>
                      <a:pPr algn="l"/>
                      <a:r>
                        <a:rPr sz="1600" b="1">
                          <a:solidFill>
                            <a:srgbClr val="000000"/>
                          </a:solidFill>
                          <a:latin typeface="Times New Roman"/>
                          <a:ea typeface="Times New Roman"/>
                        </a:rPr>
                        <a:t>Design goal</a:t>
                      </a:r>
                    </a:p>
                  </a:txBody>
                  <a:tcPr marL="70000" marR="70000" marT="30000" marB="30000" anchor="ctr">
                    <a:lnL w="12700">
                      <a:solidFill>
                        <a:srgbClr val="FFFFFF"/>
                      </a:solidFill>
                    </a:lnL>
                    <a:lnR w="12700">
                      <a:solidFill>
                        <a:srgbClr val="FFFFFF"/>
                      </a:solidFill>
                    </a:lnR>
                    <a:lnT w="12700">
                      <a:solidFill>
                        <a:srgbClr val="FFFFFF"/>
                      </a:solidFill>
                    </a:lnT>
                    <a:lnB w="12700">
                      <a:solidFill>
                        <a:srgbClr val="FFFFFF"/>
                      </a:solidFill>
                    </a:lnB>
                    <a:solidFill>
                      <a:srgbClr val="FBE4D5"/>
                    </a:solidFill>
                  </a:tcPr>
                </a:tc>
                <a:tc>
                  <a:txBody>
                    <a:bodyPr/>
                    <a:lstStyle/>
                    <a:p>
                      <a:pPr algn="l"/>
                      <a:r>
                        <a:rPr sz="1600" b="0">
                          <a:solidFill>
                            <a:srgbClr val="000000"/>
                          </a:solidFill>
                          <a:latin typeface="Times New Roman"/>
                          <a:ea typeface="Times New Roman"/>
                        </a:rPr>
                        <a:t>Fast writes and data integrity</a:t>
                      </a:r>
                    </a:p>
                  </a:txBody>
                  <a:tcPr marL="70000" marR="70000" marT="30000" marB="30000" anchor="ctr">
                    <a:lnL w="12700">
                      <a:solidFill>
                        <a:srgbClr val="FFFFFF"/>
                      </a:solidFill>
                    </a:lnL>
                    <a:lnR w="12700">
                      <a:solidFill>
                        <a:srgbClr val="FFFFFF"/>
                      </a:solidFill>
                    </a:lnR>
                    <a:lnT w="12700">
                      <a:solidFill>
                        <a:srgbClr val="FFFFFF"/>
                      </a:solidFill>
                    </a:lnT>
                    <a:lnB w="12700">
                      <a:solidFill>
                        <a:srgbClr val="FFFFFF"/>
                      </a:solidFill>
                    </a:lnB>
                    <a:solidFill>
                      <a:srgbClr val="FBE4D5"/>
                    </a:solidFill>
                  </a:tcPr>
                </a:tc>
                <a:tc>
                  <a:txBody>
                    <a:bodyPr/>
                    <a:lstStyle/>
                    <a:p>
                      <a:pPr algn="l"/>
                      <a:r>
                        <a:rPr sz="1600" b="0">
                          <a:solidFill>
                            <a:srgbClr val="000000"/>
                          </a:solidFill>
                          <a:latin typeface="Times New Roman"/>
                          <a:ea typeface="Times New Roman"/>
                        </a:rPr>
                        <a:t>Fast reads and flexible analysis</a:t>
                      </a:r>
                    </a:p>
                  </a:txBody>
                  <a:tcPr marL="70000" marR="70000" marT="30000" marB="30000" anchor="ctr">
                    <a:lnL w="12700">
                      <a:solidFill>
                        <a:srgbClr val="FFFFFF"/>
                      </a:solidFill>
                    </a:lnL>
                    <a:lnR w="12700">
                      <a:solidFill>
                        <a:srgbClr val="FFFFFF"/>
                      </a:solidFill>
                    </a:lnR>
                    <a:lnT w="12700">
                      <a:solidFill>
                        <a:srgbClr val="FFFFFF"/>
                      </a:solidFill>
                    </a:lnT>
                    <a:lnB w="12700">
                      <a:solidFill>
                        <a:srgbClr val="FFFFFF"/>
                      </a:solidFill>
                    </a:lnB>
                    <a:solidFill>
                      <a:srgbClr val="FBE4D5"/>
                    </a:solidFill>
                  </a:tcPr>
                </a:tc>
                <a:extLst>
                  <a:ext uri="{0D108BD9-81ED-4DB2-BD59-A6C34878D82A}">
                    <a16:rowId xmlns:a16="http://schemas.microsoft.com/office/drawing/2014/main" val="10008"/>
                  </a:ext>
                </a:extLst>
              </a:tr>
            </a:tbl>
          </a:graphicData>
        </a:graphic>
      </p:graphicFrame>
      <p:sp>
        <p:nvSpPr>
          <p:cNvPr id="38" name="Rectangle 37"/>
          <p:cNvSpPr/>
          <p:nvPr/>
        </p:nvSpPr>
        <p:spPr>
          <a:xfrm>
            <a:off x="704088" y="5760720"/>
            <a:ext cx="1078992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t"/>
          <a:lstStyle/>
          <a:p>
            <a:pPr algn="l"/>
            <a:r>
              <a:rPr sz="1500" b="1">
                <a:solidFill>
                  <a:srgbClr val="000000"/>
                </a:solidFill>
                <a:latin typeface="Times New Roman"/>
              </a:rPr>
              <a:t>OLTP is used to run the business; OLAP is used to analyse the business.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PlaceHolder 1"/>
          <p:cNvSpPr>
            <a:spLocks noGrp="1"/>
          </p:cNvSpPr>
          <p:nvPr>
            <p:ph type="title"/>
          </p:nvPr>
        </p:nvSpPr>
        <p:spPr>
          <a:xfrm>
            <a:off x="838080" y="665280"/>
            <a:ext cx="10515600" cy="1025280"/>
          </a:xfrm>
          <a:prstGeom prst="rect">
            <a:avLst/>
          </a:prstGeom>
          <a:noFill/>
          <a:ln w="0">
            <a:noFill/>
          </a:ln>
        </p:spPr>
        <p:txBody>
          <a:bodyPr lIns="91440" tIns="45720" rIns="91440" bIns="45720" anchor="ctr">
            <a:noAutofit/>
          </a:bodyPr>
          <a:lstStyle/>
          <a:p>
            <a:pPr indent="0" algn="ctr">
              <a:lnSpc>
                <a:spcPct val="9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b="0" strike="noStrike" spc="-1">
                <a:solidFill>
                  <a:srgbClr val="000000"/>
                </a:solidFill>
                <a:latin typeface="Times New Roman"/>
                <a:ea typeface="Times New Roman"/>
              </a:rPr>
              <a:t>PERFORMANCE COMPARISON</a:t>
            </a:r>
            <a:endParaRPr lang="en-US" sz="4400" b="0" strike="noStrike" spc="-1">
              <a:solidFill>
                <a:srgbClr val="000000"/>
              </a:solidFill>
              <a:latin typeface="Calibri Light"/>
            </a:endParaRPr>
          </a:p>
        </p:txBody>
      </p:sp>
      <p:pic>
        <p:nvPicPr>
          <p:cNvPr id="92" name="image3.png" descr="C:\Users\ADMIN\AppData\Local\Microsoft\Windows\INetCache\Content.MSO\C29DB0A6.tmp"/>
          <p:cNvPicPr/>
          <p:nvPr/>
        </p:nvPicPr>
        <p:blipFill>
          <a:blip r:embed="rId3"/>
          <a:stretch/>
        </p:blipFill>
        <p:spPr>
          <a:xfrm>
            <a:off x="2924280" y="52560"/>
            <a:ext cx="5313240" cy="544320"/>
          </a:xfrm>
          <a:prstGeom prst="rect">
            <a:avLst/>
          </a:prstGeom>
          <a:ln w="0">
            <a:noFill/>
          </a:ln>
        </p:spPr>
      </p:pic>
      <p:sp>
        <p:nvSpPr>
          <p:cNvPr id="93" name="Date Placeholder 4"/>
          <p:cNvSpPr/>
          <p:nvPr/>
        </p:nvSpPr>
        <p:spPr>
          <a:xfrm>
            <a:off x="838080" y="6356520"/>
            <a:ext cx="274320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strike="noStrike" spc="-1">
                <a:solidFill>
                  <a:srgbClr val="898989"/>
                </a:solidFill>
                <a:latin typeface="Calibri"/>
              </a:rPr>
              <a:t>10/13/2026</a:t>
            </a:r>
            <a:endParaRPr lang="en-US" sz="1200" b="0" strike="noStrike" spc="-1">
              <a:solidFill>
                <a:srgbClr val="000000"/>
              </a:solidFill>
              <a:latin typeface="Calibri"/>
            </a:endParaRPr>
          </a:p>
        </p:txBody>
      </p:sp>
      <p:sp>
        <p:nvSpPr>
          <p:cNvPr id="94" name="Footer Placeholder 5"/>
          <p:cNvSpPr/>
          <p:nvPr/>
        </p:nvSpPr>
        <p:spPr>
          <a:xfrm>
            <a:off x="4038480" y="6356520"/>
            <a:ext cx="411480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strike="noStrike" spc="-1">
                <a:solidFill>
                  <a:srgbClr val="898989"/>
                </a:solidFill>
                <a:latin typeface="Calibri"/>
              </a:rPr>
              <a:t>DATA WAREHOUSING AND DATA MINING</a:t>
            </a:r>
            <a:endParaRPr lang="en-US" sz="1200" b="0" strike="noStrike" spc="-1">
              <a:solidFill>
                <a:srgbClr val="000000"/>
              </a:solidFill>
              <a:latin typeface="Calibri"/>
            </a:endParaRPr>
          </a:p>
        </p:txBody>
      </p:sp>
      <p:sp>
        <p:nvSpPr>
          <p:cNvPr id="95" name="Slide Number Placeholder 6"/>
          <p:cNvSpPr/>
          <p:nvPr/>
        </p:nvSpPr>
        <p:spPr>
          <a:xfrm>
            <a:off x="8610480" y="6356520"/>
            <a:ext cx="274320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rmAutofit/>
          </a:bodyPr>
          <a:lstStyle/>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9F7E0D8D-1732-402C-B799-B5B340019F1E}" type="slidenum">
              <a:rPr lang="en-US" sz="1200" b="0" strike="noStrike" spc="-1">
                <a:solidFill>
                  <a:srgbClr val="898989"/>
                </a:solidFill>
                <a:latin typeface="Calibri"/>
              </a:rPr>
              <a:t>7</a:t>
            </a:fld>
            <a:endParaRPr lang="en-US" sz="1200" b="0" strike="noStrike" spc="-1">
              <a:solidFill>
                <a:srgbClr val="000000"/>
              </a:solidFill>
              <a:latin typeface="Calibri"/>
            </a:endParaRPr>
          </a:p>
        </p:txBody>
      </p:sp>
      <p:graphicFrame>
        <p:nvGraphicFramePr>
          <p:cNvPr id="96" name="Table 95"/>
          <p:cNvGraphicFramePr>
            <a:graphicFrameLocks noGrp="1"/>
          </p:cNvGraphicFramePr>
          <p:nvPr/>
        </p:nvGraphicFramePr>
        <p:xfrm>
          <a:off x="704088" y="1554480"/>
          <a:ext cx="10789918" cy="3748080"/>
        </p:xfrm>
        <a:graphic>
          <a:graphicData uri="http://schemas.openxmlformats.org/drawingml/2006/table">
            <a:tbl>
              <a:tblPr/>
              <a:tblGrid>
                <a:gridCol w="2560319">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gridCol w="4206239">
                  <a:extLst>
                    <a:ext uri="{9D8B030D-6E8A-4147-A177-3AD203B41FA5}">
                      <a16:colId xmlns:a16="http://schemas.microsoft.com/office/drawing/2014/main" val="20002"/>
                    </a:ext>
                  </a:extLst>
                </a:gridCol>
              </a:tblGrid>
              <a:tr h="457200">
                <a:tc>
                  <a:txBody>
                    <a:bodyPr/>
                    <a:lstStyle/>
                    <a:p>
                      <a:pPr algn="ctr"/>
                      <a:r>
                        <a:rPr sz="1600" b="1">
                          <a:solidFill>
                            <a:srgbClr val="000000"/>
                          </a:solidFill>
                          <a:latin typeface="Times New Roman"/>
                          <a:ea typeface="Times New Roman"/>
                        </a:rPr>
                        <a:t>PARAMETER</a:t>
                      </a:r>
                    </a:p>
                  </a:txBody>
                  <a:tcPr marL="70000" marR="70000" marT="30000" marB="30000" anchor="ctr">
                    <a:lnL w="12700">
                      <a:solidFill>
                        <a:srgbClr val="FFFFFF"/>
                      </a:solidFill>
                    </a:lnL>
                    <a:lnR w="12700">
                      <a:solidFill>
                        <a:srgbClr val="FFFFFF"/>
                      </a:solidFill>
                    </a:lnR>
                    <a:lnT w="12700">
                      <a:solidFill>
                        <a:srgbClr val="FFFFFF"/>
                      </a:solidFill>
                    </a:lnT>
                    <a:lnB w="12700">
                      <a:solidFill>
                        <a:srgbClr val="FFFFFF"/>
                      </a:solidFill>
                    </a:lnB>
                    <a:solidFill>
                      <a:srgbClr val="F4B183"/>
                    </a:solidFill>
                  </a:tcPr>
                </a:tc>
                <a:tc>
                  <a:txBody>
                    <a:bodyPr/>
                    <a:lstStyle/>
                    <a:p>
                      <a:pPr algn="ctr"/>
                      <a:r>
                        <a:rPr sz="1600" b="1">
                          <a:solidFill>
                            <a:srgbClr val="000000"/>
                          </a:solidFill>
                          <a:latin typeface="Times New Roman"/>
                          <a:ea typeface="Times New Roman"/>
                        </a:rPr>
                        <a:t>OLTP (OPERATIONAL)</a:t>
                      </a:r>
                    </a:p>
                  </a:txBody>
                  <a:tcPr marL="70000" marR="70000" marT="30000" marB="30000" anchor="ctr">
                    <a:lnL w="12700">
                      <a:solidFill>
                        <a:srgbClr val="FFFFFF"/>
                      </a:solidFill>
                    </a:lnL>
                    <a:lnR w="12700">
                      <a:solidFill>
                        <a:srgbClr val="FFFFFF"/>
                      </a:solidFill>
                    </a:lnR>
                    <a:lnT w="12700">
                      <a:solidFill>
                        <a:srgbClr val="FFFFFF"/>
                      </a:solidFill>
                    </a:lnT>
                    <a:lnB w="12700">
                      <a:solidFill>
                        <a:srgbClr val="FFFFFF"/>
                      </a:solidFill>
                    </a:lnB>
                    <a:solidFill>
                      <a:srgbClr val="F4B183"/>
                    </a:solidFill>
                  </a:tcPr>
                </a:tc>
                <a:tc>
                  <a:txBody>
                    <a:bodyPr/>
                    <a:lstStyle/>
                    <a:p>
                      <a:pPr algn="ctr"/>
                      <a:r>
                        <a:rPr sz="1600" b="1">
                          <a:solidFill>
                            <a:srgbClr val="000000"/>
                          </a:solidFill>
                          <a:latin typeface="Times New Roman"/>
                          <a:ea typeface="Times New Roman"/>
                        </a:rPr>
                        <a:t>OLAP (DSS)</a:t>
                      </a:r>
                    </a:p>
                  </a:txBody>
                  <a:tcPr marL="70000" marR="70000" marT="30000" marB="30000" anchor="ctr">
                    <a:lnL w="12700">
                      <a:solidFill>
                        <a:srgbClr val="FFFFFF"/>
                      </a:solidFill>
                    </a:lnL>
                    <a:lnR w="12700">
                      <a:solidFill>
                        <a:srgbClr val="FFFFFF"/>
                      </a:solidFill>
                    </a:lnR>
                    <a:lnT w="12700">
                      <a:solidFill>
                        <a:srgbClr val="FFFFFF"/>
                      </a:solidFill>
                    </a:lnT>
                    <a:lnB w="12700">
                      <a:solidFill>
                        <a:srgbClr val="FFFFFF"/>
                      </a:solidFill>
                    </a:lnB>
                    <a:solidFill>
                      <a:srgbClr val="F4B183"/>
                    </a:solidFill>
                  </a:tcPr>
                </a:tc>
                <a:extLst>
                  <a:ext uri="{0D108BD9-81ED-4DB2-BD59-A6C34878D82A}">
                    <a16:rowId xmlns:a16="http://schemas.microsoft.com/office/drawing/2014/main" val="10000"/>
                  </a:ext>
                </a:extLst>
              </a:tr>
              <a:tr h="457200">
                <a:tc>
                  <a:txBody>
                    <a:bodyPr/>
                    <a:lstStyle/>
                    <a:p>
                      <a:pPr algn="l"/>
                      <a:r>
                        <a:rPr sz="1600" b="1">
                          <a:solidFill>
                            <a:srgbClr val="000000"/>
                          </a:solidFill>
                          <a:latin typeface="Times New Roman"/>
                          <a:ea typeface="Times New Roman"/>
                        </a:rPr>
                        <a:t>Response time</a:t>
                      </a:r>
                    </a:p>
                  </a:txBody>
                  <a:tcPr marL="70000" marR="70000" marT="30000" marB="30000" anchor="ctr">
                    <a:lnL w="12700">
                      <a:solidFill>
                        <a:srgbClr val="FFFFFF"/>
                      </a:solidFill>
                    </a:lnL>
                    <a:lnR w="12700">
                      <a:solidFill>
                        <a:srgbClr val="FFFFFF"/>
                      </a:solidFill>
                    </a:lnR>
                    <a:lnT w="12700">
                      <a:solidFill>
                        <a:srgbClr val="FFFFFF"/>
                      </a:solidFill>
                    </a:lnT>
                    <a:lnB w="12700">
                      <a:solidFill>
                        <a:srgbClr val="FFFFFF"/>
                      </a:solidFill>
                    </a:lnB>
                    <a:solidFill>
                      <a:srgbClr val="FBE4D5"/>
                    </a:solidFill>
                  </a:tcPr>
                </a:tc>
                <a:tc>
                  <a:txBody>
                    <a:bodyPr/>
                    <a:lstStyle/>
                    <a:p>
                      <a:pPr algn="l"/>
                      <a:r>
                        <a:rPr sz="1600" b="0">
                          <a:solidFill>
                            <a:srgbClr val="000000"/>
                          </a:solidFill>
                          <a:latin typeface="Times New Roman"/>
                          <a:ea typeface="Times New Roman"/>
                        </a:rPr>
                        <a:t>Milliseconds to about a second</a:t>
                      </a:r>
                    </a:p>
                  </a:txBody>
                  <a:tcPr marL="70000" marR="70000" marT="30000" marB="30000" anchor="ctr">
                    <a:lnL w="12700">
                      <a:solidFill>
                        <a:srgbClr val="FFFFFF"/>
                      </a:solidFill>
                    </a:lnL>
                    <a:lnR w="12700">
                      <a:solidFill>
                        <a:srgbClr val="FFFFFF"/>
                      </a:solidFill>
                    </a:lnR>
                    <a:lnT w="12700">
                      <a:solidFill>
                        <a:srgbClr val="FFFFFF"/>
                      </a:solidFill>
                    </a:lnT>
                    <a:lnB w="12700">
                      <a:solidFill>
                        <a:srgbClr val="FFFFFF"/>
                      </a:solidFill>
                    </a:lnB>
                    <a:solidFill>
                      <a:srgbClr val="FBE4D5"/>
                    </a:solidFill>
                  </a:tcPr>
                </a:tc>
                <a:tc>
                  <a:txBody>
                    <a:bodyPr/>
                    <a:lstStyle/>
                    <a:p>
                      <a:pPr algn="l"/>
                      <a:r>
                        <a:rPr sz="1600" b="0">
                          <a:solidFill>
                            <a:srgbClr val="000000"/>
                          </a:solidFill>
                          <a:latin typeface="Times New Roman"/>
                          <a:ea typeface="Times New Roman"/>
                        </a:rPr>
                        <a:t>Seconds to minutes for large scans</a:t>
                      </a:r>
                    </a:p>
                  </a:txBody>
                  <a:tcPr marL="70000" marR="70000" marT="30000" marB="30000" anchor="ctr">
                    <a:lnL w="12700">
                      <a:solidFill>
                        <a:srgbClr val="FFFFFF"/>
                      </a:solidFill>
                    </a:lnL>
                    <a:lnR w="12700">
                      <a:solidFill>
                        <a:srgbClr val="FFFFFF"/>
                      </a:solidFill>
                    </a:lnR>
                    <a:lnT w="12700">
                      <a:solidFill>
                        <a:srgbClr val="FFFFFF"/>
                      </a:solidFill>
                    </a:lnT>
                    <a:lnB w="12700">
                      <a:solidFill>
                        <a:srgbClr val="FFFFFF"/>
                      </a:solidFill>
                    </a:lnB>
                    <a:solidFill>
                      <a:srgbClr val="FBE4D5"/>
                    </a:solidFill>
                  </a:tcPr>
                </a:tc>
                <a:extLst>
                  <a:ext uri="{0D108BD9-81ED-4DB2-BD59-A6C34878D82A}">
                    <a16:rowId xmlns:a16="http://schemas.microsoft.com/office/drawing/2014/main" val="10001"/>
                  </a:ext>
                </a:extLst>
              </a:tr>
              <a:tr h="457200">
                <a:tc>
                  <a:txBody>
                    <a:bodyPr/>
                    <a:lstStyle/>
                    <a:p>
                      <a:pPr algn="l"/>
                      <a:r>
                        <a:rPr sz="1600" b="1">
                          <a:solidFill>
                            <a:srgbClr val="000000"/>
                          </a:solidFill>
                          <a:latin typeface="Times New Roman"/>
                          <a:ea typeface="Times New Roman"/>
                        </a:rPr>
                        <a:t>Typical query</a:t>
                      </a:r>
                    </a:p>
                  </a:txBody>
                  <a:tcPr marL="70000" marR="70000" marT="30000" marB="30000" anchor="ctr">
                    <a:lnL w="12700">
                      <a:solidFill>
                        <a:srgbClr val="FFFFFF"/>
                      </a:solidFill>
                    </a:lnL>
                    <a:lnR w="12700">
                      <a:solidFill>
                        <a:srgbClr val="FFFFFF"/>
                      </a:solidFill>
                    </a:lnR>
                    <a:lnT w="12700">
                      <a:solidFill>
                        <a:srgbClr val="FFFFFF"/>
                      </a:solidFill>
                    </a:lnT>
                    <a:lnB w="12700">
                      <a:solidFill>
                        <a:srgbClr val="FFFFFF"/>
                      </a:solidFill>
                    </a:lnB>
                    <a:solidFill>
                      <a:srgbClr val="FBE4D5"/>
                    </a:solidFill>
                  </a:tcPr>
                </a:tc>
                <a:tc>
                  <a:txBody>
                    <a:bodyPr/>
                    <a:lstStyle/>
                    <a:p>
                      <a:pPr algn="l"/>
                      <a:r>
                        <a:rPr sz="1600" b="0">
                          <a:solidFill>
                            <a:srgbClr val="000000"/>
                          </a:solidFill>
                          <a:latin typeface="Times New Roman"/>
                          <a:ea typeface="Times New Roman"/>
                        </a:rPr>
                        <a:t>Short, predefined, by key (insert / update)</a:t>
                      </a:r>
                    </a:p>
                  </a:txBody>
                  <a:tcPr marL="70000" marR="70000" marT="30000" marB="30000" anchor="ctr">
                    <a:lnL w="12700">
                      <a:solidFill>
                        <a:srgbClr val="FFFFFF"/>
                      </a:solidFill>
                    </a:lnL>
                    <a:lnR w="12700">
                      <a:solidFill>
                        <a:srgbClr val="FFFFFF"/>
                      </a:solidFill>
                    </a:lnR>
                    <a:lnT w="12700">
                      <a:solidFill>
                        <a:srgbClr val="FFFFFF"/>
                      </a:solidFill>
                    </a:lnT>
                    <a:lnB w="12700">
                      <a:solidFill>
                        <a:srgbClr val="FFFFFF"/>
                      </a:solidFill>
                    </a:lnB>
                    <a:solidFill>
                      <a:srgbClr val="FBE4D5"/>
                    </a:solidFill>
                  </a:tcPr>
                </a:tc>
                <a:tc>
                  <a:txBody>
                    <a:bodyPr/>
                    <a:lstStyle/>
                    <a:p>
                      <a:pPr algn="l"/>
                      <a:r>
                        <a:rPr sz="1600" b="0">
                          <a:solidFill>
                            <a:srgbClr val="000000"/>
                          </a:solidFill>
                          <a:latin typeface="Times New Roman"/>
                          <a:ea typeface="Times New Roman"/>
                        </a:rPr>
                        <a:t>Complex, ad-hoc, multi-table joins with aggregation</a:t>
                      </a:r>
                    </a:p>
                  </a:txBody>
                  <a:tcPr marL="70000" marR="70000" marT="30000" marB="30000" anchor="ctr">
                    <a:lnL w="12700">
                      <a:solidFill>
                        <a:srgbClr val="FFFFFF"/>
                      </a:solidFill>
                    </a:lnL>
                    <a:lnR w="12700">
                      <a:solidFill>
                        <a:srgbClr val="FFFFFF"/>
                      </a:solidFill>
                    </a:lnR>
                    <a:lnT w="12700">
                      <a:solidFill>
                        <a:srgbClr val="FFFFFF"/>
                      </a:solidFill>
                    </a:lnT>
                    <a:lnB w="12700">
                      <a:solidFill>
                        <a:srgbClr val="FFFFFF"/>
                      </a:solidFill>
                    </a:lnB>
                    <a:solidFill>
                      <a:srgbClr val="FBE4D5"/>
                    </a:solidFill>
                  </a:tcPr>
                </a:tc>
                <a:extLst>
                  <a:ext uri="{0D108BD9-81ED-4DB2-BD59-A6C34878D82A}">
                    <a16:rowId xmlns:a16="http://schemas.microsoft.com/office/drawing/2014/main" val="10002"/>
                  </a:ext>
                </a:extLst>
              </a:tr>
              <a:tr h="457200">
                <a:tc>
                  <a:txBody>
                    <a:bodyPr/>
                    <a:lstStyle/>
                    <a:p>
                      <a:pPr algn="l"/>
                      <a:r>
                        <a:rPr sz="1600" b="1">
                          <a:solidFill>
                            <a:srgbClr val="000000"/>
                          </a:solidFill>
                          <a:latin typeface="Times New Roman"/>
                          <a:ea typeface="Times New Roman"/>
                        </a:rPr>
                        <a:t>Records accessed per query</a:t>
                      </a:r>
                    </a:p>
                  </a:txBody>
                  <a:tcPr marL="70000" marR="70000" marT="30000" marB="30000" anchor="ctr">
                    <a:lnL w="12700">
                      <a:solidFill>
                        <a:srgbClr val="FFFFFF"/>
                      </a:solidFill>
                    </a:lnL>
                    <a:lnR w="12700">
                      <a:solidFill>
                        <a:srgbClr val="FFFFFF"/>
                      </a:solidFill>
                    </a:lnR>
                    <a:lnT w="12700">
                      <a:solidFill>
                        <a:srgbClr val="FFFFFF"/>
                      </a:solidFill>
                    </a:lnT>
                    <a:lnB w="12700">
                      <a:solidFill>
                        <a:srgbClr val="FFFFFF"/>
                      </a:solidFill>
                    </a:lnB>
                    <a:solidFill>
                      <a:srgbClr val="FBE4D5"/>
                    </a:solidFill>
                  </a:tcPr>
                </a:tc>
                <a:tc>
                  <a:txBody>
                    <a:bodyPr/>
                    <a:lstStyle/>
                    <a:p>
                      <a:pPr algn="l"/>
                      <a:r>
                        <a:rPr sz="1600" b="0">
                          <a:solidFill>
                            <a:srgbClr val="000000"/>
                          </a:solidFill>
                          <a:latin typeface="Times New Roman"/>
                          <a:ea typeface="Times New Roman"/>
                        </a:rPr>
                        <a:t>A few (tens)</a:t>
                      </a:r>
                    </a:p>
                  </a:txBody>
                  <a:tcPr marL="70000" marR="70000" marT="30000" marB="30000" anchor="ctr">
                    <a:lnL w="12700">
                      <a:solidFill>
                        <a:srgbClr val="FFFFFF"/>
                      </a:solidFill>
                    </a:lnL>
                    <a:lnR w="12700">
                      <a:solidFill>
                        <a:srgbClr val="FFFFFF"/>
                      </a:solidFill>
                    </a:lnR>
                    <a:lnT w="12700">
                      <a:solidFill>
                        <a:srgbClr val="FFFFFF"/>
                      </a:solidFill>
                    </a:lnT>
                    <a:lnB w="12700">
                      <a:solidFill>
                        <a:srgbClr val="FFFFFF"/>
                      </a:solidFill>
                    </a:lnB>
                    <a:solidFill>
                      <a:srgbClr val="FBE4D5"/>
                    </a:solidFill>
                  </a:tcPr>
                </a:tc>
                <a:tc>
                  <a:txBody>
                    <a:bodyPr/>
                    <a:lstStyle/>
                    <a:p>
                      <a:pPr algn="l"/>
                      <a:r>
                        <a:rPr sz="1600" b="0">
                          <a:solidFill>
                            <a:srgbClr val="000000"/>
                          </a:solidFill>
                          <a:latin typeface="Times New Roman"/>
                          <a:ea typeface="Times New Roman"/>
                        </a:rPr>
                        <a:t>Thousands to millions</a:t>
                      </a:r>
                    </a:p>
                  </a:txBody>
                  <a:tcPr marL="70000" marR="70000" marT="30000" marB="30000" anchor="ctr">
                    <a:lnL w="12700">
                      <a:solidFill>
                        <a:srgbClr val="FFFFFF"/>
                      </a:solidFill>
                    </a:lnL>
                    <a:lnR w="12700">
                      <a:solidFill>
                        <a:srgbClr val="FFFFFF"/>
                      </a:solidFill>
                    </a:lnR>
                    <a:lnT w="12700">
                      <a:solidFill>
                        <a:srgbClr val="FFFFFF"/>
                      </a:solidFill>
                    </a:lnT>
                    <a:lnB w="12700">
                      <a:solidFill>
                        <a:srgbClr val="FFFFFF"/>
                      </a:solidFill>
                    </a:lnB>
                    <a:solidFill>
                      <a:srgbClr val="FBE4D5"/>
                    </a:solidFill>
                  </a:tcPr>
                </a:tc>
                <a:extLst>
                  <a:ext uri="{0D108BD9-81ED-4DB2-BD59-A6C34878D82A}">
                    <a16:rowId xmlns:a16="http://schemas.microsoft.com/office/drawing/2014/main" val="10003"/>
                  </a:ext>
                </a:extLst>
              </a:tr>
              <a:tr h="457200">
                <a:tc>
                  <a:txBody>
                    <a:bodyPr/>
                    <a:lstStyle/>
                    <a:p>
                      <a:pPr algn="l"/>
                      <a:r>
                        <a:rPr sz="1600" b="1">
                          <a:solidFill>
                            <a:srgbClr val="000000"/>
                          </a:solidFill>
                          <a:latin typeface="Times New Roman"/>
                          <a:ea typeface="Times New Roman"/>
                        </a:rPr>
                        <a:t>Concurrent users</a:t>
                      </a:r>
                    </a:p>
                  </a:txBody>
                  <a:tcPr marL="70000" marR="70000" marT="30000" marB="30000" anchor="ctr">
                    <a:lnL w="12700">
                      <a:solidFill>
                        <a:srgbClr val="FFFFFF"/>
                      </a:solidFill>
                    </a:lnL>
                    <a:lnR w="12700">
                      <a:solidFill>
                        <a:srgbClr val="FFFFFF"/>
                      </a:solidFill>
                    </a:lnR>
                    <a:lnT w="12700">
                      <a:solidFill>
                        <a:srgbClr val="FFFFFF"/>
                      </a:solidFill>
                    </a:lnT>
                    <a:lnB w="12700">
                      <a:solidFill>
                        <a:srgbClr val="FFFFFF"/>
                      </a:solidFill>
                    </a:lnB>
                    <a:solidFill>
                      <a:srgbClr val="FBE4D5"/>
                    </a:solidFill>
                  </a:tcPr>
                </a:tc>
                <a:tc>
                  <a:txBody>
                    <a:bodyPr/>
                    <a:lstStyle/>
                    <a:p>
                      <a:pPr algn="l"/>
                      <a:r>
                        <a:rPr sz="1600" b="0">
                          <a:solidFill>
                            <a:srgbClr val="000000"/>
                          </a:solidFill>
                          <a:latin typeface="Times New Roman"/>
                          <a:ea typeface="Times New Roman"/>
                        </a:rPr>
                        <a:t>Thousands (clerks, customers)</a:t>
                      </a:r>
                    </a:p>
                  </a:txBody>
                  <a:tcPr marL="70000" marR="70000" marT="30000" marB="30000" anchor="ctr">
                    <a:lnL w="12700">
                      <a:solidFill>
                        <a:srgbClr val="FFFFFF"/>
                      </a:solidFill>
                    </a:lnL>
                    <a:lnR w="12700">
                      <a:solidFill>
                        <a:srgbClr val="FFFFFF"/>
                      </a:solidFill>
                    </a:lnR>
                    <a:lnT w="12700">
                      <a:solidFill>
                        <a:srgbClr val="FFFFFF"/>
                      </a:solidFill>
                    </a:lnT>
                    <a:lnB w="12700">
                      <a:solidFill>
                        <a:srgbClr val="FFFFFF"/>
                      </a:solidFill>
                    </a:lnB>
                    <a:solidFill>
                      <a:srgbClr val="FBE4D5"/>
                    </a:solidFill>
                  </a:tcPr>
                </a:tc>
                <a:tc>
                  <a:txBody>
                    <a:bodyPr/>
                    <a:lstStyle/>
                    <a:p>
                      <a:pPr algn="l"/>
                      <a:r>
                        <a:rPr sz="1600" b="0">
                          <a:solidFill>
                            <a:srgbClr val="000000"/>
                          </a:solidFill>
                          <a:latin typeface="Times New Roman"/>
                          <a:ea typeface="Times New Roman"/>
                        </a:rPr>
                        <a:t>Tens to hundreds (analysts, managers)</a:t>
                      </a:r>
                    </a:p>
                  </a:txBody>
                  <a:tcPr marL="70000" marR="70000" marT="30000" marB="30000" anchor="ctr">
                    <a:lnL w="12700">
                      <a:solidFill>
                        <a:srgbClr val="FFFFFF"/>
                      </a:solidFill>
                    </a:lnL>
                    <a:lnR w="12700">
                      <a:solidFill>
                        <a:srgbClr val="FFFFFF"/>
                      </a:solidFill>
                    </a:lnR>
                    <a:lnT w="12700">
                      <a:solidFill>
                        <a:srgbClr val="FFFFFF"/>
                      </a:solidFill>
                    </a:lnT>
                    <a:lnB w="12700">
                      <a:solidFill>
                        <a:srgbClr val="FFFFFF"/>
                      </a:solidFill>
                    </a:lnB>
                    <a:solidFill>
                      <a:srgbClr val="FBE4D5"/>
                    </a:solidFill>
                  </a:tcPr>
                </a:tc>
                <a:extLst>
                  <a:ext uri="{0D108BD9-81ED-4DB2-BD59-A6C34878D82A}">
                    <a16:rowId xmlns:a16="http://schemas.microsoft.com/office/drawing/2014/main" val="10004"/>
                  </a:ext>
                </a:extLst>
              </a:tr>
              <a:tr h="457200">
                <a:tc>
                  <a:txBody>
                    <a:bodyPr/>
                    <a:lstStyle/>
                    <a:p>
                      <a:pPr algn="l"/>
                      <a:r>
                        <a:rPr sz="1600" b="1">
                          <a:solidFill>
                            <a:srgbClr val="000000"/>
                          </a:solidFill>
                          <a:latin typeface="Times New Roman"/>
                          <a:ea typeface="Times New Roman"/>
                        </a:rPr>
                        <a:t>Database size</a:t>
                      </a:r>
                    </a:p>
                  </a:txBody>
                  <a:tcPr marL="70000" marR="70000" marT="30000" marB="30000" anchor="ctr">
                    <a:lnL w="12700">
                      <a:solidFill>
                        <a:srgbClr val="FFFFFF"/>
                      </a:solidFill>
                    </a:lnL>
                    <a:lnR w="12700">
                      <a:solidFill>
                        <a:srgbClr val="FFFFFF"/>
                      </a:solidFill>
                    </a:lnR>
                    <a:lnT w="12700">
                      <a:solidFill>
                        <a:srgbClr val="FFFFFF"/>
                      </a:solidFill>
                    </a:lnT>
                    <a:lnB w="12700">
                      <a:solidFill>
                        <a:srgbClr val="FFFFFF"/>
                      </a:solidFill>
                    </a:lnB>
                    <a:solidFill>
                      <a:srgbClr val="FBE4D5"/>
                    </a:solidFill>
                  </a:tcPr>
                </a:tc>
                <a:tc>
                  <a:txBody>
                    <a:bodyPr/>
                    <a:lstStyle/>
                    <a:p>
                      <a:pPr algn="l"/>
                      <a:r>
                        <a:rPr sz="1600" b="0">
                          <a:solidFill>
                            <a:srgbClr val="000000"/>
                          </a:solidFill>
                          <a:latin typeface="Times New Roman"/>
                          <a:ea typeface="Times New Roman"/>
                        </a:rPr>
                        <a:t>Megabytes to gigabytes (current data)</a:t>
                      </a:r>
                    </a:p>
                  </a:txBody>
                  <a:tcPr marL="70000" marR="70000" marT="30000" marB="30000" anchor="ctr">
                    <a:lnL w="12700">
                      <a:solidFill>
                        <a:srgbClr val="FFFFFF"/>
                      </a:solidFill>
                    </a:lnL>
                    <a:lnR w="12700">
                      <a:solidFill>
                        <a:srgbClr val="FFFFFF"/>
                      </a:solidFill>
                    </a:lnR>
                    <a:lnT w="12700">
                      <a:solidFill>
                        <a:srgbClr val="FFFFFF"/>
                      </a:solidFill>
                    </a:lnT>
                    <a:lnB w="12700">
                      <a:solidFill>
                        <a:srgbClr val="FFFFFF"/>
                      </a:solidFill>
                    </a:lnB>
                    <a:solidFill>
                      <a:srgbClr val="FBE4D5"/>
                    </a:solidFill>
                  </a:tcPr>
                </a:tc>
                <a:tc>
                  <a:txBody>
                    <a:bodyPr/>
                    <a:lstStyle/>
                    <a:p>
                      <a:pPr algn="l"/>
                      <a:r>
                        <a:rPr sz="1600" b="0">
                          <a:solidFill>
                            <a:srgbClr val="000000"/>
                          </a:solidFill>
                          <a:latin typeface="Times New Roman"/>
                          <a:ea typeface="Times New Roman"/>
                        </a:rPr>
                        <a:t>Gigabytes to terabytes (years of history)</a:t>
                      </a:r>
                    </a:p>
                  </a:txBody>
                  <a:tcPr marL="70000" marR="70000" marT="30000" marB="30000" anchor="ctr">
                    <a:lnL w="12700">
                      <a:solidFill>
                        <a:srgbClr val="FFFFFF"/>
                      </a:solidFill>
                    </a:lnL>
                    <a:lnR w="12700">
                      <a:solidFill>
                        <a:srgbClr val="FFFFFF"/>
                      </a:solidFill>
                    </a:lnR>
                    <a:lnT w="12700">
                      <a:solidFill>
                        <a:srgbClr val="FFFFFF"/>
                      </a:solidFill>
                    </a:lnT>
                    <a:lnB w="12700">
                      <a:solidFill>
                        <a:srgbClr val="FFFFFF"/>
                      </a:solidFill>
                    </a:lnB>
                    <a:solidFill>
                      <a:srgbClr val="FBE4D5"/>
                    </a:solidFill>
                  </a:tcPr>
                </a:tc>
                <a:extLst>
                  <a:ext uri="{0D108BD9-81ED-4DB2-BD59-A6C34878D82A}">
                    <a16:rowId xmlns:a16="http://schemas.microsoft.com/office/drawing/2014/main" val="10005"/>
                  </a:ext>
                </a:extLst>
              </a:tr>
              <a:tr h="457200">
                <a:tc>
                  <a:txBody>
                    <a:bodyPr/>
                    <a:lstStyle/>
                    <a:p>
                      <a:pPr algn="l"/>
                      <a:r>
                        <a:rPr sz="1600" b="1">
                          <a:solidFill>
                            <a:srgbClr val="000000"/>
                          </a:solidFill>
                          <a:latin typeface="Times New Roman"/>
                          <a:ea typeface="Times New Roman"/>
                        </a:rPr>
                        <a:t>Main performance metric</a:t>
                      </a:r>
                    </a:p>
                  </a:txBody>
                  <a:tcPr marL="70000" marR="70000" marT="30000" marB="30000" anchor="ctr">
                    <a:lnL w="12700">
                      <a:solidFill>
                        <a:srgbClr val="FFFFFF"/>
                      </a:solidFill>
                    </a:lnL>
                    <a:lnR w="12700">
                      <a:solidFill>
                        <a:srgbClr val="FFFFFF"/>
                      </a:solidFill>
                    </a:lnR>
                    <a:lnT w="12700">
                      <a:solidFill>
                        <a:srgbClr val="FFFFFF"/>
                      </a:solidFill>
                    </a:lnT>
                    <a:lnB w="12700">
                      <a:solidFill>
                        <a:srgbClr val="FFFFFF"/>
                      </a:solidFill>
                    </a:lnB>
                    <a:solidFill>
                      <a:srgbClr val="FBE4D5"/>
                    </a:solidFill>
                  </a:tcPr>
                </a:tc>
                <a:tc>
                  <a:txBody>
                    <a:bodyPr/>
                    <a:lstStyle/>
                    <a:p>
                      <a:pPr algn="l"/>
                      <a:r>
                        <a:rPr sz="1600" b="0">
                          <a:solidFill>
                            <a:srgbClr val="000000"/>
                          </a:solidFill>
                          <a:latin typeface="Times New Roman"/>
                          <a:ea typeface="Times New Roman"/>
                        </a:rPr>
                        <a:t>Transactions per second</a:t>
                      </a:r>
                    </a:p>
                  </a:txBody>
                  <a:tcPr marL="70000" marR="70000" marT="30000" marB="30000" anchor="ctr">
                    <a:lnL w="12700">
                      <a:solidFill>
                        <a:srgbClr val="FFFFFF"/>
                      </a:solidFill>
                    </a:lnL>
                    <a:lnR w="12700">
                      <a:solidFill>
                        <a:srgbClr val="FFFFFF"/>
                      </a:solidFill>
                    </a:lnR>
                    <a:lnT w="12700">
                      <a:solidFill>
                        <a:srgbClr val="FFFFFF"/>
                      </a:solidFill>
                    </a:lnT>
                    <a:lnB w="12700">
                      <a:solidFill>
                        <a:srgbClr val="FFFFFF"/>
                      </a:solidFill>
                    </a:lnB>
                    <a:solidFill>
                      <a:srgbClr val="FBE4D5"/>
                    </a:solidFill>
                  </a:tcPr>
                </a:tc>
                <a:tc>
                  <a:txBody>
                    <a:bodyPr/>
                    <a:lstStyle/>
                    <a:p>
                      <a:pPr algn="l"/>
                      <a:r>
                        <a:rPr sz="1600" b="0">
                          <a:solidFill>
                            <a:srgbClr val="000000"/>
                          </a:solidFill>
                          <a:latin typeface="Times New Roman"/>
                          <a:ea typeface="Times New Roman"/>
                        </a:rPr>
                        <a:t>Query throughput and response time</a:t>
                      </a:r>
                    </a:p>
                  </a:txBody>
                  <a:tcPr marL="70000" marR="70000" marT="30000" marB="30000" anchor="ctr">
                    <a:lnL w="12700">
                      <a:solidFill>
                        <a:srgbClr val="FFFFFF"/>
                      </a:solidFill>
                    </a:lnL>
                    <a:lnR w="12700">
                      <a:solidFill>
                        <a:srgbClr val="FFFFFF"/>
                      </a:solidFill>
                    </a:lnR>
                    <a:lnT w="12700">
                      <a:solidFill>
                        <a:srgbClr val="FFFFFF"/>
                      </a:solidFill>
                    </a:lnT>
                    <a:lnB w="12700">
                      <a:solidFill>
                        <a:srgbClr val="FFFFFF"/>
                      </a:solidFill>
                    </a:lnB>
                    <a:solidFill>
                      <a:srgbClr val="FBE4D5"/>
                    </a:solidFill>
                  </a:tcPr>
                </a:tc>
                <a:extLst>
                  <a:ext uri="{0D108BD9-81ED-4DB2-BD59-A6C34878D82A}">
                    <a16:rowId xmlns:a16="http://schemas.microsoft.com/office/drawing/2014/main" val="10006"/>
                  </a:ext>
                </a:extLst>
              </a:tr>
              <a:tr h="457200">
                <a:tc>
                  <a:txBody>
                    <a:bodyPr/>
                    <a:lstStyle/>
                    <a:p>
                      <a:pPr algn="l"/>
                      <a:r>
                        <a:rPr sz="1600" b="1">
                          <a:solidFill>
                            <a:srgbClr val="000000"/>
                          </a:solidFill>
                          <a:latin typeface="Times New Roman"/>
                          <a:ea typeface="Times New Roman"/>
                        </a:rPr>
                        <a:t>Optimization</a:t>
                      </a:r>
                    </a:p>
                  </a:txBody>
                  <a:tcPr marL="70000" marR="70000" marT="30000" marB="30000" anchor="ctr">
                    <a:lnL w="12700">
                      <a:solidFill>
                        <a:srgbClr val="FFFFFF"/>
                      </a:solidFill>
                    </a:lnL>
                    <a:lnR w="12700">
                      <a:solidFill>
                        <a:srgbClr val="FFFFFF"/>
                      </a:solidFill>
                    </a:lnR>
                    <a:lnT w="12700">
                      <a:solidFill>
                        <a:srgbClr val="FFFFFF"/>
                      </a:solidFill>
                    </a:lnT>
                    <a:lnB w="12700">
                      <a:solidFill>
                        <a:srgbClr val="FFFFFF"/>
                      </a:solidFill>
                    </a:lnB>
                    <a:solidFill>
                      <a:srgbClr val="FBE4D5"/>
                    </a:solidFill>
                  </a:tcPr>
                </a:tc>
                <a:tc>
                  <a:txBody>
                    <a:bodyPr/>
                    <a:lstStyle/>
                    <a:p>
                      <a:pPr algn="l"/>
                      <a:r>
                        <a:rPr sz="1600" b="0">
                          <a:solidFill>
                            <a:srgbClr val="000000"/>
                          </a:solidFill>
                          <a:latin typeface="Times New Roman"/>
                          <a:ea typeface="Times New Roman"/>
                        </a:rPr>
                        <a:t>Normalization, indexes, locking</a:t>
                      </a:r>
                    </a:p>
                  </a:txBody>
                  <a:tcPr marL="70000" marR="70000" marT="30000" marB="30000" anchor="ctr">
                    <a:lnL w="12700">
                      <a:solidFill>
                        <a:srgbClr val="FFFFFF"/>
                      </a:solidFill>
                    </a:lnL>
                    <a:lnR w="12700">
                      <a:solidFill>
                        <a:srgbClr val="FFFFFF"/>
                      </a:solidFill>
                    </a:lnR>
                    <a:lnT w="12700">
                      <a:solidFill>
                        <a:srgbClr val="FFFFFF"/>
                      </a:solidFill>
                    </a:lnT>
                    <a:lnB w="12700">
                      <a:solidFill>
                        <a:srgbClr val="FFFFFF"/>
                      </a:solidFill>
                    </a:lnB>
                    <a:solidFill>
                      <a:srgbClr val="FBE4D5"/>
                    </a:solidFill>
                  </a:tcPr>
                </a:tc>
                <a:tc>
                  <a:txBody>
                    <a:bodyPr/>
                    <a:lstStyle/>
                    <a:p>
                      <a:pPr algn="l"/>
                      <a:r>
                        <a:rPr sz="1600" b="0">
                          <a:solidFill>
                            <a:srgbClr val="000000"/>
                          </a:solidFill>
                          <a:latin typeface="Times New Roman"/>
                          <a:ea typeface="Times New Roman"/>
                        </a:rPr>
                        <a:t>Star schema, bitmap indexes, partitioning, cubes</a:t>
                      </a:r>
                    </a:p>
                  </a:txBody>
                  <a:tcPr marL="70000" marR="70000" marT="30000" marB="30000" anchor="ctr">
                    <a:lnL w="12700">
                      <a:solidFill>
                        <a:srgbClr val="FFFFFF"/>
                      </a:solidFill>
                    </a:lnL>
                    <a:lnR w="12700">
                      <a:solidFill>
                        <a:srgbClr val="FFFFFF"/>
                      </a:solidFill>
                    </a:lnR>
                    <a:lnT w="12700">
                      <a:solidFill>
                        <a:srgbClr val="FFFFFF"/>
                      </a:solidFill>
                    </a:lnT>
                    <a:lnB w="12700">
                      <a:solidFill>
                        <a:srgbClr val="FFFFFF"/>
                      </a:solidFill>
                    </a:lnB>
                    <a:solidFill>
                      <a:srgbClr val="FBE4D5"/>
                    </a:solidFill>
                  </a:tcPr>
                </a:tc>
                <a:extLst>
                  <a:ext uri="{0D108BD9-81ED-4DB2-BD59-A6C34878D82A}">
                    <a16:rowId xmlns:a16="http://schemas.microsoft.com/office/drawing/2014/main" val="10007"/>
                  </a:ext>
                </a:extLst>
              </a:tr>
            </a:tbl>
          </a:graphicData>
        </a:graphic>
      </p:graphicFrame>
      <p:sp>
        <p:nvSpPr>
          <p:cNvPr id="97" name="Rectangle 96"/>
          <p:cNvSpPr/>
          <p:nvPr/>
        </p:nvSpPr>
        <p:spPr>
          <a:xfrm>
            <a:off x="704088" y="5440680"/>
            <a:ext cx="10789920" cy="8229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t"/>
          <a:lstStyle/>
          <a:p>
            <a:pPr algn="l"/>
            <a:r>
              <a:rPr sz="1400" b="0">
                <a:solidFill>
                  <a:srgbClr val="000000"/>
                </a:solidFill>
                <a:latin typeface="Times New Roman"/>
              </a:rPr>
              <a:t>Typical values from standard textbooks. Running OLAP queries on the live OLTP database causes lock contention and slows transactions, so a separate warehouse gives better results for both.</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PlaceHolder 1"/>
          <p:cNvSpPr>
            <a:spLocks noGrp="1"/>
          </p:cNvSpPr>
          <p:nvPr>
            <p:ph type="title"/>
          </p:nvPr>
        </p:nvSpPr>
        <p:spPr>
          <a:xfrm>
            <a:off x="838080" y="665280"/>
            <a:ext cx="10515600" cy="800000"/>
          </a:xfrm>
          <a:prstGeom prst="rect">
            <a:avLst/>
          </a:prstGeom>
          <a:noFill/>
          <a:ln w="0">
            <a:noFill/>
          </a:ln>
        </p:spPr>
        <p:txBody>
          <a:bodyPr lIns="91440" tIns="45720" rIns="91440" bIns="45720" anchor="ctr">
            <a:noAutofit/>
          </a:bodyPr>
          <a:lstStyle/>
          <a:p>
            <a:pPr indent="0" algn="ctr">
              <a:lnSpc>
                <a:spcPct val="9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0" strike="noStrike" spc="-1">
                <a:solidFill>
                  <a:srgbClr val="000000"/>
                </a:solidFill>
                <a:latin typeface="Times New Roman"/>
                <a:ea typeface="Times New Roman"/>
              </a:rPr>
              <a:t>ARCHITECTURE: OPERATIONAL SYSTEMS TO DSS</a:t>
            </a:r>
            <a:endParaRPr lang="en-US" sz="4000" b="0" strike="noStrike" spc="-1">
              <a:solidFill>
                <a:srgbClr val="000000"/>
              </a:solidFill>
              <a:latin typeface="Calibri Light"/>
            </a:endParaRPr>
          </a:p>
        </p:txBody>
      </p:sp>
      <p:pic>
        <p:nvPicPr>
          <p:cNvPr id="50" name="image3.png" descr="C:\Users\ADMIN\AppData\Local\Microsoft\Windows\INetCache\Content.MSO\C29DB0A6.tmp"/>
          <p:cNvPicPr/>
          <p:nvPr/>
        </p:nvPicPr>
        <p:blipFill>
          <a:blip r:embed="rId3"/>
          <a:stretch/>
        </p:blipFill>
        <p:spPr>
          <a:xfrm>
            <a:off x="2924280" y="52560"/>
            <a:ext cx="5313240" cy="544320"/>
          </a:xfrm>
          <a:prstGeom prst="rect">
            <a:avLst/>
          </a:prstGeom>
          <a:ln w="0">
            <a:noFill/>
          </a:ln>
        </p:spPr>
      </p:pic>
      <p:sp>
        <p:nvSpPr>
          <p:cNvPr id="52" name="Date Placeholder 5"/>
          <p:cNvSpPr/>
          <p:nvPr/>
        </p:nvSpPr>
        <p:spPr>
          <a:xfrm>
            <a:off x="838080" y="6356520"/>
            <a:ext cx="274320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strike="noStrike" spc="-1">
                <a:solidFill>
                  <a:srgbClr val="898989"/>
                </a:solidFill>
                <a:latin typeface="Calibri"/>
              </a:rPr>
              <a:t>10/13/2026</a:t>
            </a:r>
            <a:endParaRPr lang="en-US" sz="1200" b="0" strike="noStrike" spc="-1">
              <a:solidFill>
                <a:srgbClr val="000000"/>
              </a:solidFill>
              <a:latin typeface="Calibri"/>
            </a:endParaRPr>
          </a:p>
        </p:txBody>
      </p:sp>
      <p:sp>
        <p:nvSpPr>
          <p:cNvPr id="53" name="Footer Placeholder 6"/>
          <p:cNvSpPr/>
          <p:nvPr/>
        </p:nvSpPr>
        <p:spPr>
          <a:xfrm>
            <a:off x="4038480" y="6356520"/>
            <a:ext cx="411480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strike="noStrike" spc="-1">
                <a:solidFill>
                  <a:srgbClr val="898989"/>
                </a:solidFill>
                <a:latin typeface="Calibri"/>
              </a:rPr>
              <a:t>DATA WAREHOUSING AND DATA MINING</a:t>
            </a:r>
            <a:endParaRPr lang="en-US" sz="1200" b="0" strike="noStrike" spc="-1">
              <a:solidFill>
                <a:srgbClr val="000000"/>
              </a:solidFill>
              <a:latin typeface="Calibri"/>
            </a:endParaRPr>
          </a:p>
        </p:txBody>
      </p:sp>
      <p:sp>
        <p:nvSpPr>
          <p:cNvPr id="54" name="Slide Number Placeholder 7"/>
          <p:cNvSpPr/>
          <p:nvPr/>
        </p:nvSpPr>
        <p:spPr>
          <a:xfrm>
            <a:off x="8610480" y="6356520"/>
            <a:ext cx="274320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rmAutofit/>
          </a:bodyPr>
          <a:lstStyle/>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5B267309-847A-4517-B590-C937A8761C2B}" type="slidenum">
              <a:rPr lang="en-US" sz="1200" b="0" strike="noStrike" spc="-1">
                <a:solidFill>
                  <a:srgbClr val="898989"/>
                </a:solidFill>
                <a:latin typeface="Calibri"/>
              </a:rPr>
              <a:t>8</a:t>
            </a:fld>
            <a:endParaRPr lang="en-US" sz="1200" b="0" strike="noStrike" spc="-1">
              <a:solidFill>
                <a:srgbClr val="000000"/>
              </a:solidFill>
              <a:latin typeface="Calibri"/>
            </a:endParaRPr>
          </a:p>
        </p:txBody>
      </p:sp>
      <p:sp>
        <p:nvSpPr>
          <p:cNvPr id="55" name="Rectangle 54"/>
          <p:cNvSpPr/>
          <p:nvPr/>
        </p:nvSpPr>
        <p:spPr>
          <a:xfrm>
            <a:off x="411480" y="1783080"/>
            <a:ext cx="2331720" cy="384048"/>
          </a:xfrm>
          <a:prstGeom prst="rect">
            <a:avLst/>
          </a:prstGeom>
          <a:solidFill>
            <a:srgbClr val="D9D9D9"/>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a:solidFill>
                  <a:srgbClr val="000000"/>
                </a:solidFill>
                <a:latin typeface="Times New Roman"/>
              </a:rPr>
              <a:t>OPERATIONAL (OLTP)</a:t>
            </a:r>
          </a:p>
        </p:txBody>
      </p:sp>
      <p:sp>
        <p:nvSpPr>
          <p:cNvPr id="56" name="Rectangle 55"/>
          <p:cNvSpPr/>
          <p:nvPr/>
        </p:nvSpPr>
        <p:spPr>
          <a:xfrm>
            <a:off x="3154680" y="1783080"/>
            <a:ext cx="8595360" cy="384048"/>
          </a:xfrm>
          <a:prstGeom prst="rect">
            <a:avLst/>
          </a:prstGeom>
          <a:solidFill>
            <a:srgbClr val="F4B183"/>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a:solidFill>
                  <a:srgbClr val="000000"/>
                </a:solidFill>
                <a:latin typeface="Times New Roman"/>
              </a:rPr>
              <a:t>DATA WAREHOUSE AND DECISION SUPPORT LAYER (OLAP)</a:t>
            </a:r>
          </a:p>
        </p:txBody>
      </p:sp>
      <p:sp>
        <p:nvSpPr>
          <p:cNvPr id="57" name="Can 56"/>
          <p:cNvSpPr/>
          <p:nvPr/>
        </p:nvSpPr>
        <p:spPr>
          <a:xfrm>
            <a:off x="411480" y="2331720"/>
            <a:ext cx="2331720" cy="713232"/>
          </a:xfrm>
          <a:prstGeom prst="can">
            <a:avLst/>
          </a:prstGeom>
          <a:solidFill>
            <a:srgbClr val="F2F2F2"/>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a:solidFill>
                  <a:srgbClr val="000000"/>
                </a:solidFill>
                <a:latin typeface="Times New Roman"/>
              </a:rPr>
              <a:t>Banking / ATM</a:t>
            </a:r>
          </a:p>
          <a:p>
            <a:pPr algn="ctr"/>
            <a:r>
              <a:rPr sz="1300" b="0">
                <a:solidFill>
                  <a:srgbClr val="000000"/>
                </a:solidFill>
                <a:latin typeface="Times New Roman"/>
              </a:rPr>
              <a:t>database</a:t>
            </a:r>
          </a:p>
        </p:txBody>
      </p:sp>
      <p:sp>
        <p:nvSpPr>
          <p:cNvPr id="58" name="Can 57"/>
          <p:cNvSpPr/>
          <p:nvPr/>
        </p:nvSpPr>
        <p:spPr>
          <a:xfrm>
            <a:off x="411480" y="3172968"/>
            <a:ext cx="2331720" cy="713232"/>
          </a:xfrm>
          <a:prstGeom prst="can">
            <a:avLst/>
          </a:prstGeom>
          <a:solidFill>
            <a:srgbClr val="F2F2F2"/>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a:solidFill>
                  <a:srgbClr val="000000"/>
                </a:solidFill>
                <a:latin typeface="Times New Roman"/>
              </a:rPr>
              <a:t>Retail POS</a:t>
            </a:r>
          </a:p>
          <a:p>
            <a:pPr algn="ctr"/>
            <a:r>
              <a:rPr sz="1300" b="0">
                <a:solidFill>
                  <a:srgbClr val="000000"/>
                </a:solidFill>
                <a:latin typeface="Times New Roman"/>
              </a:rPr>
              <a:t>and billing</a:t>
            </a:r>
          </a:p>
        </p:txBody>
      </p:sp>
      <p:sp>
        <p:nvSpPr>
          <p:cNvPr id="59" name="Can 58"/>
          <p:cNvSpPr/>
          <p:nvPr/>
        </p:nvSpPr>
        <p:spPr>
          <a:xfrm>
            <a:off x="411480" y="4014215"/>
            <a:ext cx="2331720" cy="713232"/>
          </a:xfrm>
          <a:prstGeom prst="can">
            <a:avLst/>
          </a:prstGeom>
          <a:solidFill>
            <a:srgbClr val="F2F2F2"/>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a:solidFill>
                  <a:srgbClr val="000000"/>
                </a:solidFill>
                <a:latin typeface="Times New Roman"/>
              </a:rPr>
              <a:t>Hospital</a:t>
            </a:r>
          </a:p>
          <a:p>
            <a:pPr algn="ctr"/>
            <a:r>
              <a:rPr sz="1300" b="0">
                <a:solidFill>
                  <a:srgbClr val="000000"/>
                </a:solidFill>
                <a:latin typeface="Times New Roman"/>
              </a:rPr>
              <a:t>records</a:t>
            </a:r>
          </a:p>
        </p:txBody>
      </p:sp>
      <p:sp>
        <p:nvSpPr>
          <p:cNvPr id="60" name="Can 59"/>
          <p:cNvSpPr/>
          <p:nvPr/>
        </p:nvSpPr>
        <p:spPr>
          <a:xfrm>
            <a:off x="411480" y="4855464"/>
            <a:ext cx="2331720" cy="713232"/>
          </a:xfrm>
          <a:prstGeom prst="can">
            <a:avLst/>
          </a:prstGeom>
          <a:solidFill>
            <a:srgbClr val="F2F2F2"/>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a:solidFill>
                  <a:srgbClr val="000000"/>
                </a:solidFill>
                <a:latin typeface="Times New Roman"/>
              </a:rPr>
              <a:t>ERP / web</a:t>
            </a:r>
          </a:p>
          <a:p>
            <a:pPr algn="ctr"/>
            <a:r>
              <a:rPr sz="1300" b="0">
                <a:solidFill>
                  <a:srgbClr val="000000"/>
                </a:solidFill>
                <a:latin typeface="Times New Roman"/>
              </a:rPr>
              <a:t>applications</a:t>
            </a:r>
          </a:p>
        </p:txBody>
      </p:sp>
      <p:sp>
        <p:nvSpPr>
          <p:cNvPr id="61" name="Rectangle 60"/>
          <p:cNvSpPr/>
          <p:nvPr/>
        </p:nvSpPr>
        <p:spPr>
          <a:xfrm>
            <a:off x="3154680" y="2331720"/>
            <a:ext cx="1783080" cy="3200400"/>
          </a:xfrm>
          <a:prstGeom prst="rect">
            <a:avLst/>
          </a:prstGeom>
          <a:solidFill>
            <a:srgbClr val="FBE4D5"/>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a:solidFill>
                  <a:srgbClr val="000000"/>
                </a:solidFill>
                <a:latin typeface="Times New Roman"/>
              </a:rPr>
              <a:t>ETL</a:t>
            </a:r>
          </a:p>
          <a:p>
            <a:pPr algn="ctr"/>
            <a:r>
              <a:rPr sz="1300" b="0">
                <a:solidFill>
                  <a:srgbClr val="000000"/>
                </a:solidFill>
                <a:latin typeface="Times New Roman"/>
              </a:rPr>
              <a:t>1. Extract</a:t>
            </a:r>
          </a:p>
          <a:p>
            <a:pPr algn="ctr"/>
            <a:r>
              <a:rPr sz="1300" b="0">
                <a:solidFill>
                  <a:srgbClr val="000000"/>
                </a:solidFill>
                <a:latin typeface="Times New Roman"/>
              </a:rPr>
              <a:t>2. Transform</a:t>
            </a:r>
          </a:p>
          <a:p>
            <a:pPr algn="ctr"/>
            <a:r>
              <a:rPr sz="1300" b="0">
                <a:solidFill>
                  <a:srgbClr val="000000"/>
                </a:solidFill>
                <a:latin typeface="Times New Roman"/>
              </a:rPr>
              <a:t>(clean, merge, convert)</a:t>
            </a:r>
          </a:p>
          <a:p>
            <a:pPr algn="ctr"/>
            <a:r>
              <a:rPr sz="1300" b="0">
                <a:solidFill>
                  <a:srgbClr val="000000"/>
                </a:solidFill>
                <a:latin typeface="Times New Roman"/>
              </a:rPr>
              <a:t>3. Load</a:t>
            </a:r>
          </a:p>
        </p:txBody>
      </p:sp>
      <p:sp>
        <p:nvSpPr>
          <p:cNvPr id="62" name="Rectangle 61"/>
          <p:cNvSpPr/>
          <p:nvPr/>
        </p:nvSpPr>
        <p:spPr>
          <a:xfrm>
            <a:off x="5303520" y="2331720"/>
            <a:ext cx="2377440" cy="3200400"/>
          </a:xfrm>
          <a:prstGeom prst="rect">
            <a:avLst/>
          </a:prstGeom>
          <a:solidFill>
            <a:srgbClr val="FBE4D5"/>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t"/>
          <a:lstStyle/>
          <a:p>
            <a:pPr algn="ctr"/>
            <a:r>
              <a:rPr sz="1400" b="1">
                <a:solidFill>
                  <a:srgbClr val="000000"/>
                </a:solidFill>
                <a:latin typeface="Times New Roman"/>
              </a:rPr>
              <a:t>DATA WAREHOUSE</a:t>
            </a:r>
          </a:p>
        </p:txBody>
      </p:sp>
      <p:sp>
        <p:nvSpPr>
          <p:cNvPr id="63" name="Rectangle 62"/>
          <p:cNvSpPr/>
          <p:nvPr/>
        </p:nvSpPr>
        <p:spPr>
          <a:xfrm>
            <a:off x="5440680" y="2834639"/>
            <a:ext cx="2103120" cy="777240"/>
          </a:xfrm>
          <a:prstGeom prst="rect">
            <a:avLst/>
          </a:prstGeom>
          <a:solidFill>
            <a:srgbClr val="FFFFFF"/>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200" b="1">
                <a:solidFill>
                  <a:srgbClr val="000000"/>
                </a:solidFill>
                <a:latin typeface="Times New Roman"/>
              </a:rPr>
              <a:t>Central store</a:t>
            </a:r>
          </a:p>
          <a:p>
            <a:pPr algn="ctr"/>
            <a:r>
              <a:rPr sz="1200" b="0">
                <a:solidFill>
                  <a:srgbClr val="000000"/>
                </a:solidFill>
                <a:latin typeface="Times New Roman"/>
              </a:rPr>
              <a:t>subject-oriented,</a:t>
            </a:r>
          </a:p>
          <a:p>
            <a:pPr algn="ctr"/>
            <a:r>
              <a:rPr sz="1200" b="0">
                <a:solidFill>
                  <a:srgbClr val="000000"/>
                </a:solidFill>
                <a:latin typeface="Times New Roman"/>
              </a:rPr>
              <a:t>historical data</a:t>
            </a:r>
          </a:p>
        </p:txBody>
      </p:sp>
      <p:sp>
        <p:nvSpPr>
          <p:cNvPr id="64" name="Rectangle 63"/>
          <p:cNvSpPr/>
          <p:nvPr/>
        </p:nvSpPr>
        <p:spPr>
          <a:xfrm>
            <a:off x="5440680" y="3749039"/>
            <a:ext cx="2103120" cy="777240"/>
          </a:xfrm>
          <a:prstGeom prst="rect">
            <a:avLst/>
          </a:prstGeom>
          <a:solidFill>
            <a:srgbClr val="FFFFFF"/>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200" b="1">
                <a:solidFill>
                  <a:srgbClr val="000000"/>
                </a:solidFill>
                <a:latin typeface="Times New Roman"/>
              </a:rPr>
              <a:t>Data marts</a:t>
            </a:r>
          </a:p>
          <a:p>
            <a:pPr algn="ctr"/>
            <a:r>
              <a:rPr sz="1200" b="0">
                <a:solidFill>
                  <a:srgbClr val="000000"/>
                </a:solidFill>
                <a:latin typeface="Times New Roman"/>
              </a:rPr>
              <a:t>(sales, finance, HR)</a:t>
            </a:r>
          </a:p>
        </p:txBody>
      </p:sp>
      <p:sp>
        <p:nvSpPr>
          <p:cNvPr id="65" name="Rectangle 64"/>
          <p:cNvSpPr/>
          <p:nvPr/>
        </p:nvSpPr>
        <p:spPr>
          <a:xfrm>
            <a:off x="5440680" y="4663440"/>
            <a:ext cx="2103120" cy="685800"/>
          </a:xfrm>
          <a:prstGeom prst="rect">
            <a:avLst/>
          </a:prstGeom>
          <a:solidFill>
            <a:srgbClr val="FFFFFF"/>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200" b="1">
                <a:solidFill>
                  <a:srgbClr val="000000"/>
                </a:solidFill>
                <a:latin typeface="Times New Roman"/>
              </a:rPr>
              <a:t>Metadata</a:t>
            </a:r>
          </a:p>
          <a:p>
            <a:pPr algn="ctr"/>
            <a:r>
              <a:rPr sz="1200" b="0">
                <a:solidFill>
                  <a:srgbClr val="000000"/>
                </a:solidFill>
                <a:latin typeface="Times New Roman"/>
              </a:rPr>
              <a:t>repository</a:t>
            </a:r>
          </a:p>
        </p:txBody>
      </p:sp>
      <p:sp>
        <p:nvSpPr>
          <p:cNvPr id="66" name="Rectangle 65"/>
          <p:cNvSpPr/>
          <p:nvPr/>
        </p:nvSpPr>
        <p:spPr>
          <a:xfrm>
            <a:off x="8046720" y="2331720"/>
            <a:ext cx="1554480" cy="3200400"/>
          </a:xfrm>
          <a:prstGeom prst="rect">
            <a:avLst/>
          </a:prstGeom>
          <a:solidFill>
            <a:srgbClr val="FBE4D5"/>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a:solidFill>
                  <a:srgbClr val="000000"/>
                </a:solidFill>
                <a:latin typeface="Times New Roman"/>
              </a:rPr>
              <a:t>OLAP SERVER</a:t>
            </a:r>
          </a:p>
          <a:p>
            <a:pPr algn="ctr"/>
            <a:endParaRPr sz="1300" b="1">
              <a:solidFill>
                <a:srgbClr val="000000"/>
              </a:solidFill>
              <a:latin typeface="Times New Roman"/>
            </a:endParaRPr>
          </a:p>
          <a:p>
            <a:pPr algn="ctr"/>
            <a:r>
              <a:rPr sz="1300" b="0">
                <a:solidFill>
                  <a:srgbClr val="000000"/>
                </a:solidFill>
                <a:latin typeface="Times New Roman"/>
              </a:rPr>
              <a:t>Data cubes:</a:t>
            </a:r>
          </a:p>
          <a:p>
            <a:pPr algn="ctr"/>
            <a:r>
              <a:rPr sz="1300" b="0">
                <a:solidFill>
                  <a:srgbClr val="000000"/>
                </a:solidFill>
                <a:latin typeface="Times New Roman"/>
              </a:rPr>
              <a:t>slice, dice,</a:t>
            </a:r>
          </a:p>
          <a:p>
            <a:pPr algn="ctr"/>
            <a:r>
              <a:rPr sz="1300" b="0">
                <a:solidFill>
                  <a:srgbClr val="000000"/>
                </a:solidFill>
                <a:latin typeface="Times New Roman"/>
              </a:rPr>
              <a:t>roll-up,</a:t>
            </a:r>
          </a:p>
          <a:p>
            <a:pPr algn="ctr"/>
            <a:r>
              <a:rPr sz="1300" b="0">
                <a:solidFill>
                  <a:srgbClr val="000000"/>
                </a:solidFill>
                <a:latin typeface="Times New Roman"/>
              </a:rPr>
              <a:t>drill-down</a:t>
            </a:r>
          </a:p>
        </p:txBody>
      </p:sp>
      <p:sp>
        <p:nvSpPr>
          <p:cNvPr id="67" name="Rectangle 66"/>
          <p:cNvSpPr/>
          <p:nvPr/>
        </p:nvSpPr>
        <p:spPr>
          <a:xfrm>
            <a:off x="9966960" y="2331720"/>
            <a:ext cx="1783080" cy="3200400"/>
          </a:xfrm>
          <a:prstGeom prst="rect">
            <a:avLst/>
          </a:prstGeom>
          <a:solidFill>
            <a:srgbClr val="FBE4D5"/>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a:solidFill>
                  <a:srgbClr val="000000"/>
                </a:solidFill>
                <a:latin typeface="Times New Roman"/>
              </a:rPr>
              <a:t>FRONT-END</a:t>
            </a:r>
          </a:p>
          <a:p>
            <a:pPr algn="ctr"/>
            <a:r>
              <a:rPr sz="1300" b="0">
                <a:solidFill>
                  <a:srgbClr val="000000"/>
                </a:solidFill>
                <a:latin typeface="Times New Roman"/>
              </a:rPr>
              <a:t>BI TOOLS</a:t>
            </a:r>
          </a:p>
          <a:p>
            <a:pPr algn="ctr"/>
            <a:endParaRPr sz="1300" b="0">
              <a:solidFill>
                <a:srgbClr val="000000"/>
              </a:solidFill>
              <a:latin typeface="Times New Roman"/>
            </a:endParaRPr>
          </a:p>
          <a:p>
            <a:pPr algn="ctr"/>
            <a:r>
              <a:rPr sz="1300" b="0">
                <a:solidFill>
                  <a:srgbClr val="000000"/>
                </a:solidFill>
                <a:latin typeface="Times New Roman"/>
              </a:rPr>
              <a:t>Reports,</a:t>
            </a:r>
          </a:p>
          <a:p>
            <a:pPr algn="ctr"/>
            <a:r>
              <a:rPr sz="1300" b="0">
                <a:solidFill>
                  <a:srgbClr val="000000"/>
                </a:solidFill>
                <a:latin typeface="Times New Roman"/>
              </a:rPr>
              <a:t>dashboards,</a:t>
            </a:r>
          </a:p>
          <a:p>
            <a:pPr algn="ctr"/>
            <a:r>
              <a:rPr sz="1300" b="0">
                <a:solidFill>
                  <a:srgbClr val="000000"/>
                </a:solidFill>
                <a:latin typeface="Times New Roman"/>
              </a:rPr>
              <a:t>forecasting</a:t>
            </a:r>
          </a:p>
        </p:txBody>
      </p:sp>
      <p:cxnSp>
        <p:nvCxnSpPr>
          <p:cNvPr id="68" name="Connector 67"/>
          <p:cNvCxnSpPr/>
          <p:nvPr/>
        </p:nvCxnSpPr>
        <p:spPr>
          <a:xfrm>
            <a:off x="2743200" y="3931920"/>
            <a:ext cx="411480" cy="0"/>
          </a:xfrm>
          <a:prstGeom prst="line">
            <a:avLst/>
          </a:prstGeom>
          <a:ln w="254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4937760" y="3931920"/>
            <a:ext cx="365760" cy="0"/>
          </a:xfrm>
          <a:prstGeom prst="line">
            <a:avLst/>
          </a:prstGeom>
          <a:ln w="254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7680960" y="3931920"/>
            <a:ext cx="365760" cy="0"/>
          </a:xfrm>
          <a:prstGeom prst="line">
            <a:avLst/>
          </a:prstGeom>
          <a:ln w="254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9601200" y="3931920"/>
            <a:ext cx="365760" cy="0"/>
          </a:xfrm>
          <a:prstGeom prst="line">
            <a:avLst/>
          </a:prstGeom>
          <a:ln w="254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72" name="Rectangle 71"/>
          <p:cNvSpPr/>
          <p:nvPr/>
        </p:nvSpPr>
        <p:spPr>
          <a:xfrm>
            <a:off x="411480" y="5669280"/>
            <a:ext cx="233172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100" b="0">
                <a:solidFill>
                  <a:srgbClr val="000000"/>
                </a:solidFill>
                <a:latin typeface="Times New Roman"/>
              </a:rPr>
              <a:t>Current, detailed,</a:t>
            </a:r>
          </a:p>
          <a:p>
            <a:pPr algn="ctr"/>
            <a:r>
              <a:rPr sz="1100" b="0">
                <a:solidFill>
                  <a:srgbClr val="000000"/>
                </a:solidFill>
                <a:latin typeface="Times New Roman"/>
              </a:rPr>
              <a:t>read / write</a:t>
            </a:r>
          </a:p>
        </p:txBody>
      </p:sp>
      <p:sp>
        <p:nvSpPr>
          <p:cNvPr id="73" name="Rectangle 72"/>
          <p:cNvSpPr/>
          <p:nvPr/>
        </p:nvSpPr>
        <p:spPr>
          <a:xfrm>
            <a:off x="3154680" y="5669280"/>
            <a:ext cx="859536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200" b="0">
                <a:solidFill>
                  <a:srgbClr val="000000"/>
                </a:solidFill>
                <a:latin typeface="Times New Roman"/>
              </a:rPr>
              <a:t>Historical, summarized, integrated data used mainly for read-only analysis by managers and analysts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PlaceHolder 1"/>
          <p:cNvSpPr>
            <a:spLocks noGrp="1"/>
          </p:cNvSpPr>
          <p:nvPr>
            <p:ph type="title"/>
          </p:nvPr>
        </p:nvSpPr>
        <p:spPr>
          <a:xfrm>
            <a:off x="838080" y="665280"/>
            <a:ext cx="10515600" cy="1025280"/>
          </a:xfrm>
          <a:prstGeom prst="rect">
            <a:avLst/>
          </a:prstGeom>
          <a:noFill/>
          <a:ln w="0">
            <a:noFill/>
          </a:ln>
        </p:spPr>
        <p:txBody>
          <a:bodyPr lIns="91440" tIns="45720" rIns="91440" bIns="45720" anchor="ctr">
            <a:noAutofit/>
          </a:bodyPr>
          <a:lstStyle/>
          <a:p>
            <a:pPr indent="0" algn="ctr">
              <a:lnSpc>
                <a:spcPct val="9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b="0" strike="noStrike" spc="-1">
                <a:solidFill>
                  <a:srgbClr val="000000"/>
                </a:solidFill>
                <a:latin typeface="Times New Roman"/>
                <a:ea typeface="Times New Roman"/>
              </a:rPr>
              <a:t>STEP-BY-STEP DATA FLOW</a:t>
            </a:r>
            <a:endParaRPr lang="en-US" sz="4400" b="0" strike="noStrike" spc="-1">
              <a:solidFill>
                <a:srgbClr val="000000"/>
              </a:solidFill>
              <a:latin typeface="Calibri Light"/>
            </a:endParaRPr>
          </a:p>
        </p:txBody>
      </p:sp>
      <p:pic>
        <p:nvPicPr>
          <p:cNvPr id="74" name="image3.png" descr="C:\Users\ADMIN\AppData\Local\Microsoft\Windows\INetCache\Content.MSO\C29DB0A6.tmp"/>
          <p:cNvPicPr/>
          <p:nvPr/>
        </p:nvPicPr>
        <p:blipFill>
          <a:blip r:embed="rId3"/>
          <a:stretch/>
        </p:blipFill>
        <p:spPr>
          <a:xfrm>
            <a:off x="2924280" y="52560"/>
            <a:ext cx="5313240" cy="544320"/>
          </a:xfrm>
          <a:prstGeom prst="rect">
            <a:avLst/>
          </a:prstGeom>
          <a:ln w="0">
            <a:noFill/>
          </a:ln>
        </p:spPr>
      </p:pic>
      <p:sp>
        <p:nvSpPr>
          <p:cNvPr id="75" name="Date Placeholder 4"/>
          <p:cNvSpPr/>
          <p:nvPr/>
        </p:nvSpPr>
        <p:spPr>
          <a:xfrm>
            <a:off x="838080" y="6356520"/>
            <a:ext cx="274320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strike="noStrike" spc="-1">
                <a:solidFill>
                  <a:srgbClr val="898989"/>
                </a:solidFill>
                <a:latin typeface="Calibri"/>
              </a:rPr>
              <a:t>10/13/2026</a:t>
            </a:r>
            <a:endParaRPr lang="en-US" sz="1200" b="0" strike="noStrike" spc="-1">
              <a:solidFill>
                <a:srgbClr val="000000"/>
              </a:solidFill>
              <a:latin typeface="Calibri"/>
            </a:endParaRPr>
          </a:p>
        </p:txBody>
      </p:sp>
      <p:sp>
        <p:nvSpPr>
          <p:cNvPr id="76" name="Footer Placeholder 5"/>
          <p:cNvSpPr/>
          <p:nvPr/>
        </p:nvSpPr>
        <p:spPr>
          <a:xfrm>
            <a:off x="4038480" y="6356520"/>
            <a:ext cx="411480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strike="noStrike" spc="-1">
                <a:solidFill>
                  <a:srgbClr val="898989"/>
                </a:solidFill>
                <a:latin typeface="Calibri"/>
              </a:rPr>
              <a:t>DATA WAREHOUSING AND DATA MINING</a:t>
            </a:r>
            <a:endParaRPr lang="en-US" sz="1200" b="0" strike="noStrike" spc="-1">
              <a:solidFill>
                <a:srgbClr val="000000"/>
              </a:solidFill>
              <a:latin typeface="Calibri"/>
            </a:endParaRPr>
          </a:p>
        </p:txBody>
      </p:sp>
      <p:sp>
        <p:nvSpPr>
          <p:cNvPr id="77" name="Slide Number Placeholder 6"/>
          <p:cNvSpPr/>
          <p:nvPr/>
        </p:nvSpPr>
        <p:spPr>
          <a:xfrm>
            <a:off x="8610480" y="6356520"/>
            <a:ext cx="274320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rmAutofit/>
          </a:bodyPr>
          <a:lstStyle/>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18199282-6583-4A19-ABD9-C9E141136B0A}" type="slidenum">
              <a:rPr lang="en-US" sz="1200" b="0" strike="noStrike" spc="-1">
                <a:solidFill>
                  <a:srgbClr val="898989"/>
                </a:solidFill>
                <a:latin typeface="Calibri"/>
              </a:rPr>
              <a:t>9</a:t>
            </a:fld>
            <a:endParaRPr lang="en-US" sz="1200" b="0" strike="noStrike" spc="-1">
              <a:solidFill>
                <a:srgbClr val="000000"/>
              </a:solidFill>
              <a:latin typeface="Calibri"/>
            </a:endParaRPr>
          </a:p>
        </p:txBody>
      </p:sp>
      <p:sp>
        <p:nvSpPr>
          <p:cNvPr id="78" name="Rectangle 77"/>
          <p:cNvSpPr/>
          <p:nvPr/>
        </p:nvSpPr>
        <p:spPr>
          <a:xfrm>
            <a:off x="502920" y="1737360"/>
            <a:ext cx="3520440" cy="1874519"/>
          </a:xfrm>
          <a:prstGeom prst="rect">
            <a:avLst/>
          </a:prstGeom>
          <a:solidFill>
            <a:srgbClr val="F2F2F2"/>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r>
              <a:rPr sz="1800" b="1">
                <a:solidFill>
                  <a:srgbClr val="000000"/>
                </a:solidFill>
                <a:latin typeface="Times New Roman"/>
              </a:rPr>
              <a:t>1. CAPTURE</a:t>
            </a:r>
          </a:p>
          <a:p>
            <a:pPr algn="l"/>
            <a:r>
              <a:rPr sz="1500" b="0">
                <a:solidFill>
                  <a:srgbClr val="000000"/>
                </a:solidFill>
                <a:latin typeface="Times New Roman"/>
              </a:rPr>
              <a:t>Transactions are recorded in the operational (OLTP) databases.</a:t>
            </a:r>
          </a:p>
        </p:txBody>
      </p:sp>
      <p:sp>
        <p:nvSpPr>
          <p:cNvPr id="79" name="Rectangle 78"/>
          <p:cNvSpPr/>
          <p:nvPr/>
        </p:nvSpPr>
        <p:spPr>
          <a:xfrm>
            <a:off x="4297680" y="1737360"/>
            <a:ext cx="3520440" cy="1874519"/>
          </a:xfrm>
          <a:prstGeom prst="rect">
            <a:avLst/>
          </a:prstGeom>
          <a:solidFill>
            <a:srgbClr val="FBE4D5"/>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r>
              <a:rPr sz="1800" b="1">
                <a:solidFill>
                  <a:srgbClr val="000000"/>
                </a:solidFill>
                <a:latin typeface="Times New Roman"/>
              </a:rPr>
              <a:t>2. EXTRACT</a:t>
            </a:r>
          </a:p>
          <a:p>
            <a:pPr algn="l"/>
            <a:r>
              <a:rPr sz="1500" b="0">
                <a:solidFill>
                  <a:srgbClr val="000000"/>
                </a:solidFill>
                <a:latin typeface="Times New Roman"/>
              </a:rPr>
              <a:t>Required data is copied from each source at scheduled times, so live work is not disturbed.</a:t>
            </a:r>
          </a:p>
        </p:txBody>
      </p:sp>
      <p:sp>
        <p:nvSpPr>
          <p:cNvPr id="80" name="Rectangle 79"/>
          <p:cNvSpPr/>
          <p:nvPr/>
        </p:nvSpPr>
        <p:spPr>
          <a:xfrm>
            <a:off x="8092440" y="1737360"/>
            <a:ext cx="3520440" cy="1874519"/>
          </a:xfrm>
          <a:prstGeom prst="rect">
            <a:avLst/>
          </a:prstGeom>
          <a:solidFill>
            <a:srgbClr val="FBE4D5"/>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r>
              <a:rPr sz="1800" b="1">
                <a:solidFill>
                  <a:srgbClr val="000000"/>
                </a:solidFill>
                <a:latin typeface="Times New Roman"/>
              </a:rPr>
              <a:t>3. TRANSFORM</a:t>
            </a:r>
          </a:p>
          <a:p>
            <a:pPr algn="l"/>
            <a:r>
              <a:rPr sz="1500" b="0">
                <a:solidFill>
                  <a:srgbClr val="000000"/>
                </a:solidFill>
                <a:latin typeface="Times New Roman"/>
              </a:rPr>
              <a:t>Errors and duplicates are cleaned, formats and units are converted, data is integrated.</a:t>
            </a:r>
          </a:p>
        </p:txBody>
      </p:sp>
      <p:sp>
        <p:nvSpPr>
          <p:cNvPr id="81" name="Rectangle 80"/>
          <p:cNvSpPr/>
          <p:nvPr/>
        </p:nvSpPr>
        <p:spPr>
          <a:xfrm>
            <a:off x="502920" y="3931920"/>
            <a:ext cx="3520440" cy="1874519"/>
          </a:xfrm>
          <a:prstGeom prst="rect">
            <a:avLst/>
          </a:prstGeom>
          <a:solidFill>
            <a:srgbClr val="FBE4D5"/>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r>
              <a:rPr sz="1800" b="1">
                <a:solidFill>
                  <a:srgbClr val="000000"/>
                </a:solidFill>
                <a:latin typeface="Times New Roman"/>
              </a:rPr>
              <a:t>4. LOAD</a:t>
            </a:r>
          </a:p>
          <a:p>
            <a:pPr algn="l"/>
            <a:r>
              <a:rPr sz="1500" b="0">
                <a:solidFill>
                  <a:srgbClr val="000000"/>
                </a:solidFill>
                <a:latin typeface="Times New Roman"/>
              </a:rPr>
              <a:t>Data is stored in the warehouse with data marts and metadata.</a:t>
            </a:r>
          </a:p>
        </p:txBody>
      </p:sp>
      <p:sp>
        <p:nvSpPr>
          <p:cNvPr id="82" name="Rectangle 81"/>
          <p:cNvSpPr/>
          <p:nvPr/>
        </p:nvSpPr>
        <p:spPr>
          <a:xfrm>
            <a:off x="4297680" y="3931920"/>
            <a:ext cx="3520440" cy="1874519"/>
          </a:xfrm>
          <a:prstGeom prst="rect">
            <a:avLst/>
          </a:prstGeom>
          <a:solidFill>
            <a:srgbClr val="FBE4D5"/>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r>
              <a:rPr sz="1800" b="1">
                <a:solidFill>
                  <a:srgbClr val="000000"/>
                </a:solidFill>
                <a:latin typeface="Times New Roman"/>
              </a:rPr>
              <a:t>5. ANALYSE</a:t>
            </a:r>
          </a:p>
          <a:p>
            <a:pPr algn="l"/>
            <a:r>
              <a:rPr sz="1500" b="0">
                <a:solidFill>
                  <a:srgbClr val="000000"/>
                </a:solidFill>
                <a:latin typeface="Times New Roman"/>
              </a:rPr>
              <a:t>OLAP builds cubes and applies slice, dice, roll-up and drill-down.</a:t>
            </a:r>
          </a:p>
        </p:txBody>
      </p:sp>
      <p:sp>
        <p:nvSpPr>
          <p:cNvPr id="83" name="Rectangle 82"/>
          <p:cNvSpPr/>
          <p:nvPr/>
        </p:nvSpPr>
        <p:spPr>
          <a:xfrm>
            <a:off x="8092440" y="3931920"/>
            <a:ext cx="3520440" cy="1874519"/>
          </a:xfrm>
          <a:prstGeom prst="rect">
            <a:avLst/>
          </a:prstGeom>
          <a:solidFill>
            <a:srgbClr val="FBE4D5"/>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r>
              <a:rPr sz="1800" b="1">
                <a:solidFill>
                  <a:srgbClr val="000000"/>
                </a:solidFill>
                <a:latin typeface="Times New Roman"/>
              </a:rPr>
              <a:t>6. DECIDE</a:t>
            </a:r>
          </a:p>
          <a:p>
            <a:pPr algn="l"/>
            <a:r>
              <a:rPr sz="1500" b="0">
                <a:solidFill>
                  <a:srgbClr val="000000"/>
                </a:solidFill>
                <a:latin typeface="Times New Roman"/>
              </a:rPr>
              <a:t>Reports and dashboards guide managers; decisions improve daily operations.</a:t>
            </a:r>
          </a:p>
        </p:txBody>
      </p:sp>
      <p:cxnSp>
        <p:nvCxnSpPr>
          <p:cNvPr id="84" name="Connector 83"/>
          <p:cNvCxnSpPr/>
          <p:nvPr/>
        </p:nvCxnSpPr>
        <p:spPr>
          <a:xfrm>
            <a:off x="4023360" y="2674620"/>
            <a:ext cx="274320" cy="0"/>
          </a:xfrm>
          <a:prstGeom prst="line">
            <a:avLst/>
          </a:prstGeom>
          <a:ln w="254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7818120" y="2674620"/>
            <a:ext cx="274320" cy="0"/>
          </a:xfrm>
          <a:prstGeom prst="line">
            <a:avLst/>
          </a:prstGeom>
          <a:ln w="254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4023360" y="4869179"/>
            <a:ext cx="274320" cy="0"/>
          </a:xfrm>
          <a:prstGeom prst="line">
            <a:avLst/>
          </a:prstGeom>
          <a:ln w="254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7818120" y="4869179"/>
            <a:ext cx="274320" cy="0"/>
          </a:xfrm>
          <a:prstGeom prst="line">
            <a:avLst/>
          </a:prstGeom>
          <a:ln w="254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PlaceHolder 1"/>
          <p:cNvSpPr>
            <a:spLocks noGrp="1"/>
          </p:cNvSpPr>
          <p:nvPr>
            <p:ph type="title"/>
          </p:nvPr>
        </p:nvSpPr>
        <p:spPr>
          <a:xfrm>
            <a:off x="838080" y="665280"/>
            <a:ext cx="10515600" cy="1025280"/>
          </a:xfrm>
          <a:prstGeom prst="rect">
            <a:avLst/>
          </a:prstGeom>
          <a:noFill/>
          <a:ln w="0">
            <a:noFill/>
          </a:ln>
        </p:spPr>
        <p:txBody>
          <a:bodyPr lIns="91440" tIns="45720" rIns="91440" bIns="45720" anchor="ctr">
            <a:noAutofit/>
          </a:bodyPr>
          <a:lstStyle/>
          <a:p>
            <a:pPr indent="0" algn="ctr">
              <a:lnSpc>
                <a:spcPct val="9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b="0" strike="noStrike" spc="-1">
                <a:solidFill>
                  <a:srgbClr val="000000"/>
                </a:solidFill>
                <a:latin typeface="Times New Roman"/>
                <a:ea typeface="Times New Roman"/>
              </a:rPr>
              <a:t>USE-CASE SCENARIOS</a:t>
            </a:r>
            <a:endParaRPr lang="en-US" sz="4400" b="0" strike="noStrike" spc="-1">
              <a:solidFill>
                <a:srgbClr val="000000"/>
              </a:solidFill>
              <a:latin typeface="Calibri Light"/>
            </a:endParaRPr>
          </a:p>
        </p:txBody>
      </p:sp>
      <p:pic>
        <p:nvPicPr>
          <p:cNvPr id="57" name="image3.png" descr="C:\Users\ADMIN\AppData\Local\Microsoft\Windows\INetCache\Content.MSO\C29DB0A6.tmp"/>
          <p:cNvPicPr/>
          <p:nvPr/>
        </p:nvPicPr>
        <p:blipFill>
          <a:blip r:embed="rId3"/>
          <a:stretch/>
        </p:blipFill>
        <p:spPr>
          <a:xfrm>
            <a:off x="2924280" y="52560"/>
            <a:ext cx="5313240" cy="544320"/>
          </a:xfrm>
          <a:prstGeom prst="rect">
            <a:avLst/>
          </a:prstGeom>
          <a:ln w="0">
            <a:noFill/>
          </a:ln>
        </p:spPr>
      </p:pic>
      <p:sp>
        <p:nvSpPr>
          <p:cNvPr id="58" name="Date Placeholder 4"/>
          <p:cNvSpPr/>
          <p:nvPr/>
        </p:nvSpPr>
        <p:spPr>
          <a:xfrm>
            <a:off x="838080" y="6356520"/>
            <a:ext cx="274320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strike="noStrike" spc="-1">
                <a:solidFill>
                  <a:srgbClr val="898989"/>
                </a:solidFill>
                <a:latin typeface="Calibri"/>
              </a:rPr>
              <a:t>10/13/2026</a:t>
            </a:r>
            <a:endParaRPr lang="en-US" sz="1200" b="0" strike="noStrike" spc="-1">
              <a:solidFill>
                <a:srgbClr val="000000"/>
              </a:solidFill>
              <a:latin typeface="Calibri"/>
            </a:endParaRPr>
          </a:p>
        </p:txBody>
      </p:sp>
      <p:sp>
        <p:nvSpPr>
          <p:cNvPr id="59" name="Footer Placeholder 5"/>
          <p:cNvSpPr/>
          <p:nvPr/>
        </p:nvSpPr>
        <p:spPr>
          <a:xfrm>
            <a:off x="4038480" y="6356520"/>
            <a:ext cx="411480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strike="noStrike" spc="-1">
                <a:solidFill>
                  <a:srgbClr val="898989"/>
                </a:solidFill>
                <a:latin typeface="Calibri"/>
              </a:rPr>
              <a:t>DATA WAREHOUSING AND DATA MINING</a:t>
            </a:r>
            <a:endParaRPr lang="en-US" sz="1200" b="0" strike="noStrike" spc="-1">
              <a:solidFill>
                <a:srgbClr val="000000"/>
              </a:solidFill>
              <a:latin typeface="Calibri"/>
            </a:endParaRPr>
          </a:p>
        </p:txBody>
      </p:sp>
      <p:sp>
        <p:nvSpPr>
          <p:cNvPr id="60" name="Slide Number Placeholder 6"/>
          <p:cNvSpPr/>
          <p:nvPr/>
        </p:nvSpPr>
        <p:spPr>
          <a:xfrm>
            <a:off x="8610480" y="6356520"/>
            <a:ext cx="274320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rmAutofit/>
          </a:bodyPr>
          <a:lstStyle/>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0F7A1FF3-7A17-49F3-8F5D-EAF777C79AC4}" type="slidenum">
              <a:rPr lang="en-US" sz="1200" b="0" strike="noStrike" spc="-1">
                <a:solidFill>
                  <a:srgbClr val="898989"/>
                </a:solidFill>
                <a:latin typeface="Calibri"/>
              </a:rPr>
              <a:t>10</a:t>
            </a:fld>
            <a:endParaRPr lang="en-US" sz="1200" b="0" strike="noStrike" spc="-1">
              <a:solidFill>
                <a:srgbClr val="000000"/>
              </a:solidFill>
              <a:latin typeface="Calibri"/>
            </a:endParaRPr>
          </a:p>
        </p:txBody>
      </p:sp>
      <p:graphicFrame>
        <p:nvGraphicFramePr>
          <p:cNvPr id="61" name="Table 60"/>
          <p:cNvGraphicFramePr>
            <a:graphicFrameLocks noGrp="1"/>
          </p:cNvGraphicFramePr>
          <p:nvPr/>
        </p:nvGraphicFramePr>
        <p:xfrm>
          <a:off x="704088" y="1783080"/>
          <a:ext cx="10789920" cy="4389120"/>
        </p:xfrm>
        <a:graphic>
          <a:graphicData uri="http://schemas.openxmlformats.org/drawingml/2006/table">
            <a:tbl>
              <a:tblPr/>
              <a:tblGrid>
                <a:gridCol w="173736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gridCol w="5029200">
                  <a:extLst>
                    <a:ext uri="{9D8B030D-6E8A-4147-A177-3AD203B41FA5}">
                      <a16:colId xmlns:a16="http://schemas.microsoft.com/office/drawing/2014/main" val="20002"/>
                    </a:ext>
                  </a:extLst>
                </a:gridCol>
              </a:tblGrid>
              <a:tr h="731520">
                <a:tc>
                  <a:txBody>
                    <a:bodyPr/>
                    <a:lstStyle/>
                    <a:p>
                      <a:pPr algn="ctr"/>
                      <a:r>
                        <a:rPr sz="1600" b="1">
                          <a:solidFill>
                            <a:srgbClr val="000000"/>
                          </a:solidFill>
                          <a:latin typeface="Times New Roman"/>
                          <a:ea typeface="Times New Roman"/>
                        </a:rPr>
                        <a:t>DOMAIN</a:t>
                      </a:r>
                    </a:p>
                  </a:txBody>
                  <a:tcPr marL="70000" marR="70000" marT="30000" marB="30000" anchor="ctr">
                    <a:lnL w="12700">
                      <a:solidFill>
                        <a:srgbClr val="FFFFFF"/>
                      </a:solidFill>
                    </a:lnL>
                    <a:lnR w="12700">
                      <a:solidFill>
                        <a:srgbClr val="FFFFFF"/>
                      </a:solidFill>
                    </a:lnR>
                    <a:lnT w="12700">
                      <a:solidFill>
                        <a:srgbClr val="FFFFFF"/>
                      </a:solidFill>
                    </a:lnT>
                    <a:lnB w="12700">
                      <a:solidFill>
                        <a:srgbClr val="FFFFFF"/>
                      </a:solidFill>
                    </a:lnB>
                    <a:solidFill>
                      <a:srgbClr val="F4B183"/>
                    </a:solidFill>
                  </a:tcPr>
                </a:tc>
                <a:tc>
                  <a:txBody>
                    <a:bodyPr/>
                    <a:lstStyle/>
                    <a:p>
                      <a:pPr algn="ctr"/>
                      <a:r>
                        <a:rPr sz="1600" b="1">
                          <a:solidFill>
                            <a:srgbClr val="000000"/>
                          </a:solidFill>
                          <a:latin typeface="Times New Roman"/>
                          <a:ea typeface="Times New Roman"/>
                        </a:rPr>
                        <a:t>OPERATIONAL SYSTEM (OLTP) USE</a:t>
                      </a:r>
                    </a:p>
                  </a:txBody>
                  <a:tcPr marL="70000" marR="70000" marT="30000" marB="30000" anchor="ctr">
                    <a:lnL w="12700">
                      <a:solidFill>
                        <a:srgbClr val="FFFFFF"/>
                      </a:solidFill>
                    </a:lnL>
                    <a:lnR w="12700">
                      <a:solidFill>
                        <a:srgbClr val="FFFFFF"/>
                      </a:solidFill>
                    </a:lnR>
                    <a:lnT w="12700">
                      <a:solidFill>
                        <a:srgbClr val="FFFFFF"/>
                      </a:solidFill>
                    </a:lnT>
                    <a:lnB w="12700">
                      <a:solidFill>
                        <a:srgbClr val="FFFFFF"/>
                      </a:solidFill>
                    </a:lnB>
                    <a:solidFill>
                      <a:srgbClr val="F4B183"/>
                    </a:solidFill>
                  </a:tcPr>
                </a:tc>
                <a:tc>
                  <a:txBody>
                    <a:bodyPr/>
                    <a:lstStyle/>
                    <a:p>
                      <a:pPr algn="ctr"/>
                      <a:r>
                        <a:rPr sz="1600" b="1">
                          <a:solidFill>
                            <a:srgbClr val="000000"/>
                          </a:solidFill>
                          <a:latin typeface="Times New Roman"/>
                          <a:ea typeface="Times New Roman"/>
                        </a:rPr>
                        <a:t>DECISION SUPPORT (OLAP) USE</a:t>
                      </a:r>
                    </a:p>
                  </a:txBody>
                  <a:tcPr marL="70000" marR="70000" marT="30000" marB="30000" anchor="ctr">
                    <a:lnL w="12700">
                      <a:solidFill>
                        <a:srgbClr val="FFFFFF"/>
                      </a:solidFill>
                    </a:lnL>
                    <a:lnR w="12700">
                      <a:solidFill>
                        <a:srgbClr val="FFFFFF"/>
                      </a:solidFill>
                    </a:lnR>
                    <a:lnT w="12700">
                      <a:solidFill>
                        <a:srgbClr val="FFFFFF"/>
                      </a:solidFill>
                    </a:lnT>
                    <a:lnB w="12700">
                      <a:solidFill>
                        <a:srgbClr val="FFFFFF"/>
                      </a:solidFill>
                    </a:lnB>
                    <a:solidFill>
                      <a:srgbClr val="F4B183"/>
                    </a:solidFill>
                  </a:tcPr>
                </a:tc>
                <a:extLst>
                  <a:ext uri="{0D108BD9-81ED-4DB2-BD59-A6C34878D82A}">
                    <a16:rowId xmlns:a16="http://schemas.microsoft.com/office/drawing/2014/main" val="10000"/>
                  </a:ext>
                </a:extLst>
              </a:tr>
              <a:tr h="731520">
                <a:tc>
                  <a:txBody>
                    <a:bodyPr/>
                    <a:lstStyle/>
                    <a:p>
                      <a:pPr algn="l"/>
                      <a:r>
                        <a:rPr sz="1600" b="1">
                          <a:solidFill>
                            <a:srgbClr val="000000"/>
                          </a:solidFill>
                          <a:latin typeface="Times New Roman"/>
                          <a:ea typeface="Times New Roman"/>
                        </a:rPr>
                        <a:t>Banking</a:t>
                      </a:r>
                    </a:p>
                  </a:txBody>
                  <a:tcPr marL="70000" marR="70000" marT="30000" marB="30000" anchor="ctr">
                    <a:lnL w="12700">
                      <a:solidFill>
                        <a:srgbClr val="FFFFFF"/>
                      </a:solidFill>
                    </a:lnL>
                    <a:lnR w="12700">
                      <a:solidFill>
                        <a:srgbClr val="FFFFFF"/>
                      </a:solidFill>
                    </a:lnR>
                    <a:lnT w="12700">
                      <a:solidFill>
                        <a:srgbClr val="FFFFFF"/>
                      </a:solidFill>
                    </a:lnT>
                    <a:lnB w="12700">
                      <a:solidFill>
                        <a:srgbClr val="FFFFFF"/>
                      </a:solidFill>
                    </a:lnB>
                    <a:solidFill>
                      <a:srgbClr val="FBE4D5"/>
                    </a:solidFill>
                  </a:tcPr>
                </a:tc>
                <a:tc>
                  <a:txBody>
                    <a:bodyPr/>
                    <a:lstStyle/>
                    <a:p>
                      <a:pPr algn="l"/>
                      <a:r>
                        <a:rPr sz="1600" b="0">
                          <a:solidFill>
                            <a:srgbClr val="000000"/>
                          </a:solidFill>
                          <a:latin typeface="Times New Roman"/>
                          <a:ea typeface="Times New Roman"/>
                        </a:rPr>
                        <a:t>ATM withdrawal, fund transfer, balance update</a:t>
                      </a:r>
                    </a:p>
                  </a:txBody>
                  <a:tcPr marL="70000" marR="70000" marT="30000" marB="30000" anchor="ctr">
                    <a:lnL w="12700">
                      <a:solidFill>
                        <a:srgbClr val="FFFFFF"/>
                      </a:solidFill>
                    </a:lnL>
                    <a:lnR w="12700">
                      <a:solidFill>
                        <a:srgbClr val="FFFFFF"/>
                      </a:solidFill>
                    </a:lnR>
                    <a:lnT w="12700">
                      <a:solidFill>
                        <a:srgbClr val="FFFFFF"/>
                      </a:solidFill>
                    </a:lnT>
                    <a:lnB w="12700">
                      <a:solidFill>
                        <a:srgbClr val="FFFFFF"/>
                      </a:solidFill>
                    </a:lnB>
                    <a:solidFill>
                      <a:srgbClr val="FBE4D5"/>
                    </a:solidFill>
                  </a:tcPr>
                </a:tc>
                <a:tc>
                  <a:txBody>
                    <a:bodyPr/>
                    <a:lstStyle/>
                    <a:p>
                      <a:pPr algn="l"/>
                      <a:r>
                        <a:rPr sz="1600" b="0">
                          <a:solidFill>
                            <a:srgbClr val="000000"/>
                          </a:solidFill>
                          <a:latin typeface="Times New Roman"/>
                          <a:ea typeface="Times New Roman"/>
                        </a:rPr>
                        <a:t>Customer profitability, loan default and fraud trend analysis</a:t>
                      </a:r>
                    </a:p>
                  </a:txBody>
                  <a:tcPr marL="70000" marR="70000" marT="30000" marB="30000" anchor="ctr">
                    <a:lnL w="12700">
                      <a:solidFill>
                        <a:srgbClr val="FFFFFF"/>
                      </a:solidFill>
                    </a:lnL>
                    <a:lnR w="12700">
                      <a:solidFill>
                        <a:srgbClr val="FFFFFF"/>
                      </a:solidFill>
                    </a:lnR>
                    <a:lnT w="12700">
                      <a:solidFill>
                        <a:srgbClr val="FFFFFF"/>
                      </a:solidFill>
                    </a:lnT>
                    <a:lnB w="12700">
                      <a:solidFill>
                        <a:srgbClr val="FFFFFF"/>
                      </a:solidFill>
                    </a:lnB>
                    <a:solidFill>
                      <a:srgbClr val="FBE4D5"/>
                    </a:solidFill>
                  </a:tcPr>
                </a:tc>
                <a:extLst>
                  <a:ext uri="{0D108BD9-81ED-4DB2-BD59-A6C34878D82A}">
                    <a16:rowId xmlns:a16="http://schemas.microsoft.com/office/drawing/2014/main" val="10001"/>
                  </a:ext>
                </a:extLst>
              </a:tr>
              <a:tr h="731520">
                <a:tc>
                  <a:txBody>
                    <a:bodyPr/>
                    <a:lstStyle/>
                    <a:p>
                      <a:pPr algn="l"/>
                      <a:r>
                        <a:rPr sz="1600" b="1">
                          <a:solidFill>
                            <a:srgbClr val="000000"/>
                          </a:solidFill>
                          <a:latin typeface="Times New Roman"/>
                          <a:ea typeface="Times New Roman"/>
                        </a:rPr>
                        <a:t>Retail</a:t>
                      </a:r>
                    </a:p>
                  </a:txBody>
                  <a:tcPr marL="70000" marR="70000" marT="30000" marB="30000" anchor="ctr">
                    <a:lnL w="12700">
                      <a:solidFill>
                        <a:srgbClr val="FFFFFF"/>
                      </a:solidFill>
                    </a:lnL>
                    <a:lnR w="12700">
                      <a:solidFill>
                        <a:srgbClr val="FFFFFF"/>
                      </a:solidFill>
                    </a:lnR>
                    <a:lnT w="12700">
                      <a:solidFill>
                        <a:srgbClr val="FFFFFF"/>
                      </a:solidFill>
                    </a:lnT>
                    <a:lnB w="12700">
                      <a:solidFill>
                        <a:srgbClr val="FFFFFF"/>
                      </a:solidFill>
                    </a:lnB>
                    <a:solidFill>
                      <a:srgbClr val="FBE4D5"/>
                    </a:solidFill>
                  </a:tcPr>
                </a:tc>
                <a:tc>
                  <a:txBody>
                    <a:bodyPr/>
                    <a:lstStyle/>
                    <a:p>
                      <a:pPr algn="l"/>
                      <a:r>
                        <a:rPr sz="1600" b="0">
                          <a:solidFill>
                            <a:srgbClr val="000000"/>
                          </a:solidFill>
                          <a:latin typeface="Times New Roman"/>
                          <a:ea typeface="Times New Roman"/>
                        </a:rPr>
                        <a:t>POS billing, stock update, order entry</a:t>
                      </a:r>
                    </a:p>
                  </a:txBody>
                  <a:tcPr marL="70000" marR="70000" marT="30000" marB="30000" anchor="ctr">
                    <a:lnL w="12700">
                      <a:solidFill>
                        <a:srgbClr val="FFFFFF"/>
                      </a:solidFill>
                    </a:lnL>
                    <a:lnR w="12700">
                      <a:solidFill>
                        <a:srgbClr val="FFFFFF"/>
                      </a:solidFill>
                    </a:lnR>
                    <a:lnT w="12700">
                      <a:solidFill>
                        <a:srgbClr val="FFFFFF"/>
                      </a:solidFill>
                    </a:lnT>
                    <a:lnB w="12700">
                      <a:solidFill>
                        <a:srgbClr val="FFFFFF"/>
                      </a:solidFill>
                    </a:lnB>
                    <a:solidFill>
                      <a:srgbClr val="FBE4D5"/>
                    </a:solidFill>
                  </a:tcPr>
                </a:tc>
                <a:tc>
                  <a:txBody>
                    <a:bodyPr/>
                    <a:lstStyle/>
                    <a:p>
                      <a:pPr algn="l"/>
                      <a:r>
                        <a:rPr sz="1600" b="0">
                          <a:solidFill>
                            <a:srgbClr val="000000"/>
                          </a:solidFill>
                          <a:latin typeface="Times New Roman"/>
                          <a:ea typeface="Times New Roman"/>
                        </a:rPr>
                        <a:t>Sales by region, product and quarter; demand forecasting</a:t>
                      </a:r>
                    </a:p>
                  </a:txBody>
                  <a:tcPr marL="70000" marR="70000" marT="30000" marB="30000" anchor="ctr">
                    <a:lnL w="12700">
                      <a:solidFill>
                        <a:srgbClr val="FFFFFF"/>
                      </a:solidFill>
                    </a:lnL>
                    <a:lnR w="12700">
                      <a:solidFill>
                        <a:srgbClr val="FFFFFF"/>
                      </a:solidFill>
                    </a:lnR>
                    <a:lnT w="12700">
                      <a:solidFill>
                        <a:srgbClr val="FFFFFF"/>
                      </a:solidFill>
                    </a:lnT>
                    <a:lnB w="12700">
                      <a:solidFill>
                        <a:srgbClr val="FFFFFF"/>
                      </a:solidFill>
                    </a:lnB>
                    <a:solidFill>
                      <a:srgbClr val="FBE4D5"/>
                    </a:solidFill>
                  </a:tcPr>
                </a:tc>
                <a:extLst>
                  <a:ext uri="{0D108BD9-81ED-4DB2-BD59-A6C34878D82A}">
                    <a16:rowId xmlns:a16="http://schemas.microsoft.com/office/drawing/2014/main" val="10002"/>
                  </a:ext>
                </a:extLst>
              </a:tr>
              <a:tr h="731520">
                <a:tc>
                  <a:txBody>
                    <a:bodyPr/>
                    <a:lstStyle/>
                    <a:p>
                      <a:pPr algn="l"/>
                      <a:r>
                        <a:rPr sz="1600" b="1">
                          <a:solidFill>
                            <a:srgbClr val="000000"/>
                          </a:solidFill>
                          <a:latin typeface="Times New Roman"/>
                          <a:ea typeface="Times New Roman"/>
                        </a:rPr>
                        <a:t>Healthcare</a:t>
                      </a:r>
                    </a:p>
                  </a:txBody>
                  <a:tcPr marL="70000" marR="70000" marT="30000" marB="30000" anchor="ctr">
                    <a:lnL w="12700">
                      <a:solidFill>
                        <a:srgbClr val="FFFFFF"/>
                      </a:solidFill>
                    </a:lnL>
                    <a:lnR w="12700">
                      <a:solidFill>
                        <a:srgbClr val="FFFFFF"/>
                      </a:solidFill>
                    </a:lnR>
                    <a:lnT w="12700">
                      <a:solidFill>
                        <a:srgbClr val="FFFFFF"/>
                      </a:solidFill>
                    </a:lnT>
                    <a:lnB w="12700">
                      <a:solidFill>
                        <a:srgbClr val="FFFFFF"/>
                      </a:solidFill>
                    </a:lnB>
                    <a:solidFill>
                      <a:srgbClr val="FBE4D5"/>
                    </a:solidFill>
                  </a:tcPr>
                </a:tc>
                <a:tc>
                  <a:txBody>
                    <a:bodyPr/>
                    <a:lstStyle/>
                    <a:p>
                      <a:pPr algn="l"/>
                      <a:r>
                        <a:rPr sz="1600" b="0">
                          <a:solidFill>
                            <a:srgbClr val="000000"/>
                          </a:solidFill>
                          <a:latin typeface="Times New Roman"/>
                          <a:ea typeface="Times New Roman"/>
                        </a:rPr>
                        <a:t>Patient admission, prescriptions, lab entries</a:t>
                      </a:r>
                    </a:p>
                  </a:txBody>
                  <a:tcPr marL="70000" marR="70000" marT="30000" marB="30000" anchor="ctr">
                    <a:lnL w="12700">
                      <a:solidFill>
                        <a:srgbClr val="FFFFFF"/>
                      </a:solidFill>
                    </a:lnL>
                    <a:lnR w="12700">
                      <a:solidFill>
                        <a:srgbClr val="FFFFFF"/>
                      </a:solidFill>
                    </a:lnR>
                    <a:lnT w="12700">
                      <a:solidFill>
                        <a:srgbClr val="FFFFFF"/>
                      </a:solidFill>
                    </a:lnT>
                    <a:lnB w="12700">
                      <a:solidFill>
                        <a:srgbClr val="FFFFFF"/>
                      </a:solidFill>
                    </a:lnB>
                    <a:solidFill>
                      <a:srgbClr val="FBE4D5"/>
                    </a:solidFill>
                  </a:tcPr>
                </a:tc>
                <a:tc>
                  <a:txBody>
                    <a:bodyPr/>
                    <a:lstStyle/>
                    <a:p>
                      <a:pPr algn="l"/>
                      <a:r>
                        <a:rPr sz="1600" b="0">
                          <a:solidFill>
                            <a:srgbClr val="000000"/>
                          </a:solidFill>
                          <a:latin typeface="Times New Roman"/>
                          <a:ea typeface="Times New Roman"/>
                        </a:rPr>
                        <a:t>Disease trends, bed occupancy and treatment outcome analysis</a:t>
                      </a:r>
                    </a:p>
                  </a:txBody>
                  <a:tcPr marL="70000" marR="70000" marT="30000" marB="30000" anchor="ctr">
                    <a:lnL w="12700">
                      <a:solidFill>
                        <a:srgbClr val="FFFFFF"/>
                      </a:solidFill>
                    </a:lnL>
                    <a:lnR w="12700">
                      <a:solidFill>
                        <a:srgbClr val="FFFFFF"/>
                      </a:solidFill>
                    </a:lnR>
                    <a:lnT w="12700">
                      <a:solidFill>
                        <a:srgbClr val="FFFFFF"/>
                      </a:solidFill>
                    </a:lnT>
                    <a:lnB w="12700">
                      <a:solidFill>
                        <a:srgbClr val="FFFFFF"/>
                      </a:solidFill>
                    </a:lnB>
                    <a:solidFill>
                      <a:srgbClr val="FBE4D5"/>
                    </a:solidFill>
                  </a:tcPr>
                </a:tc>
                <a:extLst>
                  <a:ext uri="{0D108BD9-81ED-4DB2-BD59-A6C34878D82A}">
                    <a16:rowId xmlns:a16="http://schemas.microsoft.com/office/drawing/2014/main" val="10003"/>
                  </a:ext>
                </a:extLst>
              </a:tr>
              <a:tr h="731520">
                <a:tc>
                  <a:txBody>
                    <a:bodyPr/>
                    <a:lstStyle/>
                    <a:p>
                      <a:pPr algn="l"/>
                      <a:r>
                        <a:rPr sz="1600" b="1">
                          <a:solidFill>
                            <a:srgbClr val="000000"/>
                          </a:solidFill>
                          <a:latin typeface="Times New Roman"/>
                          <a:ea typeface="Times New Roman"/>
                        </a:rPr>
                        <a:t>Airlines / Railways</a:t>
                      </a:r>
                    </a:p>
                  </a:txBody>
                  <a:tcPr marL="70000" marR="70000" marT="30000" marB="30000" anchor="ctr">
                    <a:lnL w="12700">
                      <a:solidFill>
                        <a:srgbClr val="FFFFFF"/>
                      </a:solidFill>
                    </a:lnL>
                    <a:lnR w="12700">
                      <a:solidFill>
                        <a:srgbClr val="FFFFFF"/>
                      </a:solidFill>
                    </a:lnR>
                    <a:lnT w="12700">
                      <a:solidFill>
                        <a:srgbClr val="FFFFFF"/>
                      </a:solidFill>
                    </a:lnT>
                    <a:lnB w="12700">
                      <a:solidFill>
                        <a:srgbClr val="FFFFFF"/>
                      </a:solidFill>
                    </a:lnB>
                    <a:solidFill>
                      <a:srgbClr val="FBE4D5"/>
                    </a:solidFill>
                  </a:tcPr>
                </a:tc>
                <a:tc>
                  <a:txBody>
                    <a:bodyPr/>
                    <a:lstStyle/>
                    <a:p>
                      <a:pPr algn="l"/>
                      <a:r>
                        <a:rPr sz="1600" b="0">
                          <a:solidFill>
                            <a:srgbClr val="000000"/>
                          </a:solidFill>
                          <a:latin typeface="Times New Roman"/>
                          <a:ea typeface="Times New Roman"/>
                        </a:rPr>
                        <a:t>Ticket booking, seat allocation, cancellation</a:t>
                      </a:r>
                    </a:p>
                  </a:txBody>
                  <a:tcPr marL="70000" marR="70000" marT="30000" marB="30000" anchor="ctr">
                    <a:lnL w="12700">
                      <a:solidFill>
                        <a:srgbClr val="FFFFFF"/>
                      </a:solidFill>
                    </a:lnL>
                    <a:lnR w="12700">
                      <a:solidFill>
                        <a:srgbClr val="FFFFFF"/>
                      </a:solidFill>
                    </a:lnR>
                    <a:lnT w="12700">
                      <a:solidFill>
                        <a:srgbClr val="FFFFFF"/>
                      </a:solidFill>
                    </a:lnT>
                    <a:lnB w="12700">
                      <a:solidFill>
                        <a:srgbClr val="FFFFFF"/>
                      </a:solidFill>
                    </a:lnB>
                    <a:solidFill>
                      <a:srgbClr val="FBE4D5"/>
                    </a:solidFill>
                  </a:tcPr>
                </a:tc>
                <a:tc>
                  <a:txBody>
                    <a:bodyPr/>
                    <a:lstStyle/>
                    <a:p>
                      <a:pPr algn="l"/>
                      <a:r>
                        <a:rPr sz="1600" b="0">
                          <a:solidFill>
                            <a:srgbClr val="000000"/>
                          </a:solidFill>
                          <a:latin typeface="Times New Roman"/>
                          <a:ea typeface="Times New Roman"/>
                        </a:rPr>
                        <a:t>Route profitability, peak-season demand and pricing analysis</a:t>
                      </a:r>
                    </a:p>
                  </a:txBody>
                  <a:tcPr marL="70000" marR="70000" marT="30000" marB="30000" anchor="ctr">
                    <a:lnL w="12700">
                      <a:solidFill>
                        <a:srgbClr val="FFFFFF"/>
                      </a:solidFill>
                    </a:lnL>
                    <a:lnR w="12700">
                      <a:solidFill>
                        <a:srgbClr val="FFFFFF"/>
                      </a:solidFill>
                    </a:lnR>
                    <a:lnT w="12700">
                      <a:solidFill>
                        <a:srgbClr val="FFFFFF"/>
                      </a:solidFill>
                    </a:lnT>
                    <a:lnB w="12700">
                      <a:solidFill>
                        <a:srgbClr val="FFFFFF"/>
                      </a:solidFill>
                    </a:lnB>
                    <a:solidFill>
                      <a:srgbClr val="FBE4D5"/>
                    </a:solidFill>
                  </a:tcPr>
                </a:tc>
                <a:extLst>
                  <a:ext uri="{0D108BD9-81ED-4DB2-BD59-A6C34878D82A}">
                    <a16:rowId xmlns:a16="http://schemas.microsoft.com/office/drawing/2014/main" val="10004"/>
                  </a:ext>
                </a:extLst>
              </a:tr>
              <a:tr h="731520">
                <a:tc>
                  <a:txBody>
                    <a:bodyPr/>
                    <a:lstStyle/>
                    <a:p>
                      <a:pPr algn="l"/>
                      <a:r>
                        <a:rPr sz="1600" b="1">
                          <a:solidFill>
                            <a:srgbClr val="000000"/>
                          </a:solidFill>
                          <a:latin typeface="Times New Roman"/>
                          <a:ea typeface="Times New Roman"/>
                        </a:rPr>
                        <a:t>Telecom</a:t>
                      </a:r>
                    </a:p>
                  </a:txBody>
                  <a:tcPr marL="70000" marR="70000" marT="30000" marB="30000" anchor="ctr">
                    <a:lnL w="12700">
                      <a:solidFill>
                        <a:srgbClr val="FFFFFF"/>
                      </a:solidFill>
                    </a:lnL>
                    <a:lnR w="12700">
                      <a:solidFill>
                        <a:srgbClr val="FFFFFF"/>
                      </a:solidFill>
                    </a:lnR>
                    <a:lnT w="12700">
                      <a:solidFill>
                        <a:srgbClr val="FFFFFF"/>
                      </a:solidFill>
                    </a:lnT>
                    <a:lnB w="12700">
                      <a:solidFill>
                        <a:srgbClr val="FFFFFF"/>
                      </a:solidFill>
                    </a:lnB>
                    <a:solidFill>
                      <a:srgbClr val="FBE4D5"/>
                    </a:solidFill>
                  </a:tcPr>
                </a:tc>
                <a:tc>
                  <a:txBody>
                    <a:bodyPr/>
                    <a:lstStyle/>
                    <a:p>
                      <a:pPr algn="l"/>
                      <a:r>
                        <a:rPr sz="1600" b="0">
                          <a:solidFill>
                            <a:srgbClr val="000000"/>
                          </a:solidFill>
                          <a:latin typeface="Times New Roman"/>
                          <a:ea typeface="Times New Roman"/>
                        </a:rPr>
                        <a:t>Call record capture, bill generation</a:t>
                      </a:r>
                    </a:p>
                  </a:txBody>
                  <a:tcPr marL="70000" marR="70000" marT="30000" marB="30000" anchor="ctr">
                    <a:lnL w="12700">
                      <a:solidFill>
                        <a:srgbClr val="FFFFFF"/>
                      </a:solidFill>
                    </a:lnL>
                    <a:lnR w="12700">
                      <a:solidFill>
                        <a:srgbClr val="FFFFFF"/>
                      </a:solidFill>
                    </a:lnR>
                    <a:lnT w="12700">
                      <a:solidFill>
                        <a:srgbClr val="FFFFFF"/>
                      </a:solidFill>
                    </a:lnT>
                    <a:lnB w="12700">
                      <a:solidFill>
                        <a:srgbClr val="FFFFFF"/>
                      </a:solidFill>
                    </a:lnB>
                    <a:solidFill>
                      <a:srgbClr val="FBE4D5"/>
                    </a:solidFill>
                  </a:tcPr>
                </a:tc>
                <a:tc>
                  <a:txBody>
                    <a:bodyPr/>
                    <a:lstStyle/>
                    <a:p>
                      <a:pPr algn="l"/>
                      <a:r>
                        <a:rPr sz="1600" b="0">
                          <a:solidFill>
                            <a:srgbClr val="000000"/>
                          </a:solidFill>
                          <a:latin typeface="Times New Roman"/>
                          <a:ea typeface="Times New Roman"/>
                        </a:rPr>
                        <a:t>Customer churn and network usage analysis</a:t>
                      </a:r>
                    </a:p>
                  </a:txBody>
                  <a:tcPr marL="70000" marR="70000" marT="30000" marB="30000" anchor="ctr">
                    <a:lnL w="12700">
                      <a:solidFill>
                        <a:srgbClr val="FFFFFF"/>
                      </a:solidFill>
                    </a:lnL>
                    <a:lnR w="12700">
                      <a:solidFill>
                        <a:srgbClr val="FFFFFF"/>
                      </a:solidFill>
                    </a:lnR>
                    <a:lnT w="12700">
                      <a:solidFill>
                        <a:srgbClr val="FFFFFF"/>
                      </a:solidFill>
                    </a:lnT>
                    <a:lnB w="12700">
                      <a:solidFill>
                        <a:srgbClr val="FFFFFF"/>
                      </a:solidFill>
                    </a:lnB>
                    <a:solidFill>
                      <a:srgbClr val="FBE4D5"/>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PlaceHolder 1"/>
          <p:cNvSpPr>
            <a:spLocks noGrp="1"/>
          </p:cNvSpPr>
          <p:nvPr>
            <p:ph type="title"/>
          </p:nvPr>
        </p:nvSpPr>
        <p:spPr>
          <a:xfrm>
            <a:off x="838080" y="665280"/>
            <a:ext cx="10515600" cy="800000"/>
          </a:xfrm>
          <a:prstGeom prst="rect">
            <a:avLst/>
          </a:prstGeom>
          <a:noFill/>
          <a:ln w="0">
            <a:noFill/>
          </a:ln>
        </p:spPr>
        <p:txBody>
          <a:bodyPr lIns="91440" tIns="45720" rIns="91440" bIns="45720" anchor="ctr">
            <a:noAutofit/>
          </a:bodyPr>
          <a:lstStyle/>
          <a:p>
            <a:pPr indent="0" algn="ctr">
              <a:lnSpc>
                <a:spcPct val="9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000" b="0" strike="noStrike" spc="-1" dirty="0">
                <a:solidFill>
                  <a:srgbClr val="000000"/>
                </a:solidFill>
                <a:latin typeface="Times New Roman"/>
                <a:ea typeface="Times New Roman"/>
              </a:rPr>
              <a:t>OLTP vs OLAP QUERIES</a:t>
            </a:r>
            <a:endParaRPr lang="en-US" sz="4400" b="0" strike="noStrike" spc="-1" dirty="0">
              <a:solidFill>
                <a:srgbClr val="000000"/>
              </a:solidFill>
              <a:latin typeface="Calibri Light"/>
            </a:endParaRPr>
          </a:p>
        </p:txBody>
      </p:sp>
      <p:pic>
        <p:nvPicPr>
          <p:cNvPr id="62" name="image3.png" descr="C:\Users\ADMIN\AppData\Local\Microsoft\Windows\INetCache\Content.MSO\C29DB0A6.tmp"/>
          <p:cNvPicPr/>
          <p:nvPr/>
        </p:nvPicPr>
        <p:blipFill>
          <a:blip r:embed="rId3"/>
          <a:stretch/>
        </p:blipFill>
        <p:spPr>
          <a:xfrm>
            <a:off x="2924280" y="52560"/>
            <a:ext cx="5313240" cy="544320"/>
          </a:xfrm>
          <a:prstGeom prst="rect">
            <a:avLst/>
          </a:prstGeom>
          <a:ln w="0">
            <a:noFill/>
          </a:ln>
        </p:spPr>
      </p:pic>
      <p:sp>
        <p:nvSpPr>
          <p:cNvPr id="63" name="Date Placeholder 4"/>
          <p:cNvSpPr/>
          <p:nvPr/>
        </p:nvSpPr>
        <p:spPr>
          <a:xfrm>
            <a:off x="838080" y="6356520"/>
            <a:ext cx="274320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strike="noStrike" spc="-1">
                <a:solidFill>
                  <a:srgbClr val="898989"/>
                </a:solidFill>
                <a:latin typeface="Calibri"/>
              </a:rPr>
              <a:t>10/13/2026</a:t>
            </a:r>
            <a:endParaRPr lang="en-US" sz="1200" b="0" strike="noStrike" spc="-1">
              <a:solidFill>
                <a:srgbClr val="000000"/>
              </a:solidFill>
              <a:latin typeface="Calibri"/>
            </a:endParaRPr>
          </a:p>
        </p:txBody>
      </p:sp>
      <p:sp>
        <p:nvSpPr>
          <p:cNvPr id="64" name="Footer Placeholder 5"/>
          <p:cNvSpPr/>
          <p:nvPr/>
        </p:nvSpPr>
        <p:spPr>
          <a:xfrm>
            <a:off x="4038480" y="6356520"/>
            <a:ext cx="411480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strike="noStrike" spc="-1">
                <a:solidFill>
                  <a:srgbClr val="898989"/>
                </a:solidFill>
                <a:latin typeface="Calibri"/>
              </a:rPr>
              <a:t>DATA WAREHOUSING AND DATA MINING</a:t>
            </a:r>
            <a:endParaRPr lang="en-US" sz="1200" b="0" strike="noStrike" spc="-1">
              <a:solidFill>
                <a:srgbClr val="000000"/>
              </a:solidFill>
              <a:latin typeface="Calibri"/>
            </a:endParaRPr>
          </a:p>
        </p:txBody>
      </p:sp>
      <p:sp>
        <p:nvSpPr>
          <p:cNvPr id="65" name="Slide Number Placeholder 6"/>
          <p:cNvSpPr/>
          <p:nvPr/>
        </p:nvSpPr>
        <p:spPr>
          <a:xfrm>
            <a:off x="8610480" y="6356520"/>
            <a:ext cx="274320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rmAutofit/>
          </a:bodyPr>
          <a:lstStyle/>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0A13AED8-FB2D-4657-ACD9-FA558AB9ED73}" type="slidenum">
              <a:rPr lang="en-US" sz="1200" b="0" strike="noStrike" spc="-1">
                <a:solidFill>
                  <a:srgbClr val="898989"/>
                </a:solidFill>
                <a:latin typeface="Calibri"/>
              </a:rPr>
              <a:t>11</a:t>
            </a:fld>
            <a:endParaRPr lang="en-US" sz="1200" b="0" strike="noStrike" spc="-1">
              <a:solidFill>
                <a:srgbClr val="000000"/>
              </a:solidFill>
              <a:latin typeface="Calibri"/>
            </a:endParaRPr>
          </a:p>
        </p:txBody>
      </p:sp>
      <p:sp>
        <p:nvSpPr>
          <p:cNvPr id="66" name="Rectangle 65"/>
          <p:cNvSpPr/>
          <p:nvPr/>
        </p:nvSpPr>
        <p:spPr>
          <a:xfrm>
            <a:off x="457200" y="1645920"/>
            <a:ext cx="5486400" cy="365760"/>
          </a:xfrm>
          <a:prstGeom prst="rect">
            <a:avLst/>
          </a:prstGeom>
          <a:solidFill>
            <a:srgbClr val="F2F2F2"/>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400" b="1">
                <a:solidFill>
                  <a:srgbClr val="000000"/>
                </a:solidFill>
                <a:latin typeface="Times New Roman"/>
              </a:rPr>
              <a:t>OLTP – money transfer (operational database)</a:t>
            </a:r>
          </a:p>
        </p:txBody>
      </p:sp>
      <p:sp>
        <p:nvSpPr>
          <p:cNvPr id="67" name="Rectangle 66"/>
          <p:cNvSpPr/>
          <p:nvPr/>
        </p:nvSpPr>
        <p:spPr>
          <a:xfrm>
            <a:off x="457200" y="2057400"/>
            <a:ext cx="5486400" cy="2103120"/>
          </a:xfrm>
          <a:prstGeom prst="rect">
            <a:avLst/>
          </a:prstGeom>
          <a:solidFill>
            <a:srgbClr val="FFFFFF"/>
          </a:solidFill>
          <a:ln w="12700">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r>
              <a:rPr sz="1200" b="0">
                <a:solidFill>
                  <a:srgbClr val="000000"/>
                </a:solidFill>
                <a:latin typeface="Courier New"/>
              </a:rPr>
              <a:t>BEGIN;</a:t>
            </a:r>
          </a:p>
          <a:p>
            <a:pPr algn="l"/>
            <a:r>
              <a:rPr sz="1200" b="0">
                <a:solidFill>
                  <a:srgbClr val="000000"/>
                </a:solidFill>
                <a:latin typeface="Courier New"/>
              </a:rPr>
              <a:t>UPDATE account SET balance = balance - 5000</a:t>
            </a:r>
          </a:p>
          <a:p>
            <a:pPr algn="l"/>
            <a:r>
              <a:rPr sz="1200" b="0">
                <a:solidFill>
                  <a:srgbClr val="000000"/>
                </a:solidFill>
                <a:latin typeface="Courier New"/>
              </a:rPr>
              <a:t>  WHERE acc_no = 1001;</a:t>
            </a:r>
          </a:p>
          <a:p>
            <a:pPr algn="l"/>
            <a:r>
              <a:rPr sz="1200" b="0">
                <a:solidFill>
                  <a:srgbClr val="000000"/>
                </a:solidFill>
                <a:latin typeface="Courier New"/>
              </a:rPr>
              <a:t>UPDATE account SET balance = balance + 5000</a:t>
            </a:r>
          </a:p>
          <a:p>
            <a:pPr algn="l"/>
            <a:r>
              <a:rPr sz="1200" b="0">
                <a:solidFill>
                  <a:srgbClr val="000000"/>
                </a:solidFill>
                <a:latin typeface="Courier New"/>
              </a:rPr>
              <a:t>  WHERE acc_no = 2002;</a:t>
            </a:r>
          </a:p>
          <a:p>
            <a:pPr algn="l"/>
            <a:r>
              <a:rPr sz="1200" b="0">
                <a:solidFill>
                  <a:srgbClr val="000000"/>
                </a:solidFill>
                <a:latin typeface="Courier New"/>
              </a:rPr>
              <a:t>COMMIT;</a:t>
            </a:r>
          </a:p>
        </p:txBody>
      </p:sp>
      <p:sp>
        <p:nvSpPr>
          <p:cNvPr id="68" name="Rectangle 67"/>
          <p:cNvSpPr/>
          <p:nvPr/>
        </p:nvSpPr>
        <p:spPr>
          <a:xfrm>
            <a:off x="457200" y="4251960"/>
            <a:ext cx="548640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r>
              <a:rPr sz="1300" b="1">
                <a:solidFill>
                  <a:srgbClr val="000000"/>
                </a:solidFill>
                <a:latin typeface="Times New Roman"/>
              </a:rPr>
              <a:t>Result</a:t>
            </a:r>
          </a:p>
        </p:txBody>
      </p:sp>
      <p:sp>
        <p:nvSpPr>
          <p:cNvPr id="69" name="Rectangle 68"/>
          <p:cNvSpPr/>
          <p:nvPr/>
        </p:nvSpPr>
        <p:spPr>
          <a:xfrm>
            <a:off x="457200" y="4572000"/>
            <a:ext cx="5486400" cy="1005840"/>
          </a:xfrm>
          <a:prstGeom prst="rect">
            <a:avLst/>
          </a:prstGeom>
          <a:solidFill>
            <a:srgbClr val="FFFFFF"/>
          </a:solidFill>
          <a:ln w="12700">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r>
              <a:rPr sz="1200" b="0">
                <a:solidFill>
                  <a:srgbClr val="000000"/>
                </a:solidFill>
                <a:latin typeface="Courier New"/>
              </a:rPr>
              <a:t>acc_no  holder  balance</a:t>
            </a:r>
          </a:p>
          <a:p>
            <a:pPr algn="l"/>
            <a:r>
              <a:rPr sz="1200" b="0">
                <a:solidFill>
                  <a:srgbClr val="000000"/>
                </a:solidFill>
                <a:latin typeface="Courier New"/>
              </a:rPr>
              <a:t>1001    Arun    20000.0</a:t>
            </a:r>
          </a:p>
          <a:p>
            <a:pPr algn="l"/>
            <a:r>
              <a:rPr sz="1200" b="0">
                <a:solidFill>
                  <a:srgbClr val="000000"/>
                </a:solidFill>
                <a:latin typeface="Courier New"/>
              </a:rPr>
              <a:t>2002    Meena   45000.0</a:t>
            </a:r>
          </a:p>
        </p:txBody>
      </p:sp>
      <p:sp>
        <p:nvSpPr>
          <p:cNvPr id="70" name="Rectangle 69"/>
          <p:cNvSpPr/>
          <p:nvPr/>
        </p:nvSpPr>
        <p:spPr>
          <a:xfrm>
            <a:off x="457200" y="5669280"/>
            <a:ext cx="5486400" cy="6400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t"/>
          <a:lstStyle/>
          <a:p>
            <a:pPr algn="l"/>
            <a:r>
              <a:rPr sz="1300" b="0">
                <a:solidFill>
                  <a:srgbClr val="000000"/>
                </a:solidFill>
                <a:latin typeface="Times New Roman"/>
              </a:rPr>
              <a:t>Touches 2 rows, finishes in well under a millisecond (0.07 ms), reads and writes current data, and stays safe through COMMIT.</a:t>
            </a:r>
          </a:p>
        </p:txBody>
      </p:sp>
      <p:sp>
        <p:nvSpPr>
          <p:cNvPr id="71" name="Rectangle 70"/>
          <p:cNvSpPr/>
          <p:nvPr/>
        </p:nvSpPr>
        <p:spPr>
          <a:xfrm>
            <a:off x="6263640" y="1645920"/>
            <a:ext cx="5486400" cy="365760"/>
          </a:xfrm>
          <a:prstGeom prst="rect">
            <a:avLst/>
          </a:prstGeom>
          <a:solidFill>
            <a:srgbClr val="F4B183"/>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400" b="1">
                <a:solidFill>
                  <a:srgbClr val="000000"/>
                </a:solidFill>
                <a:latin typeface="Times New Roman"/>
              </a:rPr>
              <a:t>OLAP – quarterly sales (warehouse star schema)</a:t>
            </a:r>
          </a:p>
        </p:txBody>
      </p:sp>
      <p:sp>
        <p:nvSpPr>
          <p:cNvPr id="72" name="Rectangle 71"/>
          <p:cNvSpPr/>
          <p:nvPr/>
        </p:nvSpPr>
        <p:spPr>
          <a:xfrm>
            <a:off x="6263640" y="2057400"/>
            <a:ext cx="5486400" cy="2103120"/>
          </a:xfrm>
          <a:prstGeom prst="rect">
            <a:avLst/>
          </a:prstGeom>
          <a:solidFill>
            <a:srgbClr val="FFFFFF"/>
          </a:solidFill>
          <a:ln w="12700">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r>
              <a:rPr sz="1100" b="0">
                <a:solidFill>
                  <a:srgbClr val="000000"/>
                </a:solidFill>
                <a:latin typeface="Courier New"/>
              </a:rPr>
              <a:t>SELECT d.year, d.quarter, p.category,</a:t>
            </a:r>
          </a:p>
          <a:p>
            <a:pPr algn="l"/>
            <a:r>
              <a:rPr sz="1100" b="0">
                <a:solidFill>
                  <a:srgbClr val="000000"/>
                </a:solidFill>
                <a:latin typeface="Courier New"/>
              </a:rPr>
              <a:t>       SUM(f.sales_amount) AS total_sales</a:t>
            </a:r>
          </a:p>
          <a:p>
            <a:pPr algn="l"/>
            <a:r>
              <a:rPr sz="1100" b="0">
                <a:solidFill>
                  <a:srgbClr val="000000"/>
                </a:solidFill>
                <a:latin typeface="Courier New"/>
              </a:rPr>
              <a:t>FROM fact_sales f</a:t>
            </a:r>
          </a:p>
          <a:p>
            <a:pPr algn="l"/>
            <a:r>
              <a:rPr sz="1100" b="0">
                <a:solidFill>
                  <a:srgbClr val="000000"/>
                </a:solidFill>
                <a:latin typeface="Courier New"/>
              </a:rPr>
              <a:t>JOIN dim_date d ON f.date_key = d.date_key</a:t>
            </a:r>
          </a:p>
          <a:p>
            <a:pPr algn="l"/>
            <a:r>
              <a:rPr sz="1100" b="0">
                <a:solidFill>
                  <a:srgbClr val="000000"/>
                </a:solidFill>
                <a:latin typeface="Courier New"/>
              </a:rPr>
              <a:t>JOIN dim_product p</a:t>
            </a:r>
          </a:p>
          <a:p>
            <a:pPr algn="l"/>
            <a:r>
              <a:rPr sz="1100" b="0">
                <a:solidFill>
                  <a:srgbClr val="000000"/>
                </a:solidFill>
                <a:latin typeface="Courier New"/>
              </a:rPr>
              <a:t>  ON f.product_key = p.product_key</a:t>
            </a:r>
          </a:p>
          <a:p>
            <a:pPr algn="l"/>
            <a:r>
              <a:rPr sz="1100" b="0">
                <a:solidFill>
                  <a:srgbClr val="000000"/>
                </a:solidFill>
                <a:latin typeface="Courier New"/>
              </a:rPr>
              <a:t>WHERE d.year = 2025</a:t>
            </a:r>
          </a:p>
          <a:p>
            <a:pPr algn="l"/>
            <a:r>
              <a:rPr sz="1100" b="0">
                <a:solidFill>
                  <a:srgbClr val="000000"/>
                </a:solidFill>
                <a:latin typeface="Courier New"/>
              </a:rPr>
              <a:t>GROUP BY d.year, d.quarter, p.category</a:t>
            </a:r>
          </a:p>
          <a:p>
            <a:pPr algn="l"/>
            <a:r>
              <a:rPr sz="1100" b="0">
                <a:solidFill>
                  <a:srgbClr val="000000"/>
                </a:solidFill>
                <a:latin typeface="Courier New"/>
              </a:rPr>
              <a:t>ORDER BY d.quarter, total_sales DESC;</a:t>
            </a:r>
          </a:p>
        </p:txBody>
      </p:sp>
      <p:sp>
        <p:nvSpPr>
          <p:cNvPr id="73" name="Rectangle 72"/>
          <p:cNvSpPr/>
          <p:nvPr/>
        </p:nvSpPr>
        <p:spPr>
          <a:xfrm>
            <a:off x="6263640" y="4251960"/>
            <a:ext cx="548640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r>
              <a:rPr sz="1300" b="1">
                <a:solidFill>
                  <a:srgbClr val="000000"/>
                </a:solidFill>
                <a:latin typeface="Times New Roman"/>
              </a:rPr>
              <a:t>Result (first 4 of 12 rows)</a:t>
            </a:r>
          </a:p>
        </p:txBody>
      </p:sp>
      <p:sp>
        <p:nvSpPr>
          <p:cNvPr id="74" name="Rectangle 73"/>
          <p:cNvSpPr/>
          <p:nvPr/>
        </p:nvSpPr>
        <p:spPr>
          <a:xfrm>
            <a:off x="6263640" y="4572000"/>
            <a:ext cx="5486400" cy="1005840"/>
          </a:xfrm>
          <a:prstGeom prst="rect">
            <a:avLst/>
          </a:prstGeom>
          <a:solidFill>
            <a:srgbClr val="FFFFFF"/>
          </a:solidFill>
          <a:ln w="12700">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r>
              <a:rPr sz="1100" b="0">
                <a:solidFill>
                  <a:srgbClr val="000000"/>
                </a:solidFill>
                <a:latin typeface="Courier New"/>
              </a:rPr>
              <a:t>year  qtr  category     total_sales</a:t>
            </a:r>
          </a:p>
          <a:p>
            <a:pPr algn="l"/>
            <a:r>
              <a:rPr sz="1100" b="0">
                <a:solidFill>
                  <a:srgbClr val="000000"/>
                </a:solidFill>
                <a:latin typeface="Courier New"/>
              </a:rPr>
              <a:t>2025  Q1   Clothing     21,020,590</a:t>
            </a:r>
          </a:p>
          <a:p>
            <a:pPr algn="l"/>
            <a:r>
              <a:rPr sz="1100" b="0">
                <a:solidFill>
                  <a:srgbClr val="000000"/>
                </a:solidFill>
                <a:latin typeface="Courier New"/>
              </a:rPr>
              <a:t>2025  Q1   Electronics  20,855,925</a:t>
            </a:r>
          </a:p>
          <a:p>
            <a:pPr algn="l"/>
            <a:r>
              <a:rPr sz="1100" b="0">
                <a:solidFill>
                  <a:srgbClr val="000000"/>
                </a:solidFill>
                <a:latin typeface="Courier New"/>
              </a:rPr>
              <a:t>2025  Q1   Grocery      20,640,988</a:t>
            </a:r>
          </a:p>
          <a:p>
            <a:pPr algn="l"/>
            <a:r>
              <a:rPr sz="1100" b="0">
                <a:solidFill>
                  <a:srgbClr val="000000"/>
                </a:solidFill>
                <a:latin typeface="Courier New"/>
              </a:rPr>
              <a:t>2025  Q2   Electronics  21,660,423</a:t>
            </a:r>
          </a:p>
        </p:txBody>
      </p:sp>
      <p:sp>
        <p:nvSpPr>
          <p:cNvPr id="75" name="Rectangle 74"/>
          <p:cNvSpPr/>
          <p:nvPr/>
        </p:nvSpPr>
        <p:spPr>
          <a:xfrm>
            <a:off x="6263640" y="5669280"/>
            <a:ext cx="5486400" cy="6400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t"/>
          <a:lstStyle/>
          <a:p>
            <a:pPr algn="l"/>
            <a:r>
              <a:rPr sz="1300" b="0">
                <a:solidFill>
                  <a:srgbClr val="000000"/>
                </a:solidFill>
                <a:latin typeface="Times New Roman"/>
              </a:rPr>
              <a:t>Scans 200,000 fact rows, joins 3 tables and summarizes them into 12 rows in about 97 ms. Read-only, over historical data.</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PlaceHolder 1"/>
          <p:cNvSpPr>
            <a:spLocks noGrp="1"/>
          </p:cNvSpPr>
          <p:nvPr>
            <p:ph type="title"/>
          </p:nvPr>
        </p:nvSpPr>
        <p:spPr>
          <a:xfrm>
            <a:off x="838080" y="665280"/>
            <a:ext cx="10515600" cy="1025280"/>
          </a:xfrm>
          <a:prstGeom prst="rect">
            <a:avLst/>
          </a:prstGeom>
          <a:noFill/>
          <a:ln w="0">
            <a:noFill/>
          </a:ln>
        </p:spPr>
        <p:txBody>
          <a:bodyPr lIns="91440" tIns="45720" rIns="91440" bIns="45720" anchor="ctr">
            <a:noAutofit/>
          </a:bodyPr>
          <a:lstStyle/>
          <a:p>
            <a:pPr indent="0" algn="ctr">
              <a:lnSpc>
                <a:spcPct val="9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b="0" strike="noStrike" spc="-1">
                <a:solidFill>
                  <a:srgbClr val="000000"/>
                </a:solidFill>
                <a:latin typeface="Times New Roman"/>
                <a:ea typeface="Times New Roman"/>
              </a:rPr>
              <a:t>REFERENCES</a:t>
            </a:r>
            <a:endParaRPr lang="en-US" sz="4400" b="0" strike="noStrike" spc="-1">
              <a:solidFill>
                <a:srgbClr val="000000"/>
              </a:solidFill>
              <a:latin typeface="Calibri Light"/>
            </a:endParaRPr>
          </a:p>
        </p:txBody>
      </p:sp>
      <p:sp>
        <p:nvSpPr>
          <p:cNvPr id="121" name="TextBox 120"/>
          <p:cNvSpPr txBox="1"/>
          <p:nvPr/>
        </p:nvSpPr>
        <p:spPr>
          <a:xfrm>
            <a:off x="838080" y="1825200"/>
            <a:ext cx="10515600" cy="4351320"/>
          </a:xfrm>
          <a:prstGeom prst="rect">
            <a:avLst/>
          </a:prstGeom>
          <a:noFill/>
          <a:ln w="0">
            <a:noFill/>
          </a:ln>
        </p:spPr>
        <p:txBody>
          <a:bodyPr anchor="t">
            <a:normAutofit/>
          </a:bodyPr>
          <a:lstStyle/>
          <a:p>
            <a:pPr marL="0" indent="0">
              <a:lnSpc>
                <a:spcPct val="105000"/>
              </a:lnSpc>
              <a:spcBef>
                <a:spcPts val="600"/>
              </a:spcBef>
              <a:buNone/>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strike="noStrike" spc="-1">
                <a:solidFill>
                  <a:srgbClr val="000000"/>
                </a:solidFill>
                <a:latin typeface="Times New Roman"/>
                <a:ea typeface="Times New Roman"/>
              </a:rPr>
              <a:t>[1] J. Han, M. Kamber and J. Pei, Data Mining: Concepts and Techniques, 3rd ed. Morgan Kaufmann, 2011.</a:t>
            </a:r>
            <a:endParaRPr lang="en-US" sz="1600" b="0" strike="noStrike" spc="-1">
              <a:solidFill>
                <a:srgbClr val="000000"/>
              </a:solidFill>
              <a:latin typeface="Calibri"/>
            </a:endParaRPr>
          </a:p>
          <a:p>
            <a:pPr marL="0" indent="0">
              <a:lnSpc>
                <a:spcPct val="105000"/>
              </a:lnSpc>
              <a:spcBef>
                <a:spcPts val="600"/>
              </a:spcBef>
              <a:buNone/>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strike="noStrike" spc="-1">
                <a:solidFill>
                  <a:srgbClr val="000000"/>
                </a:solidFill>
                <a:latin typeface="Times New Roman"/>
                <a:ea typeface="Times New Roman"/>
              </a:rPr>
              <a:t>[2] R. Kimball and M. Ross, The Data Warehouse Toolkit, 3rd ed. Wiley, 2013.</a:t>
            </a:r>
            <a:endParaRPr lang="en-US" sz="1600" b="0" strike="noStrike" spc="-1">
              <a:solidFill>
                <a:srgbClr val="000000"/>
              </a:solidFill>
              <a:latin typeface="Calibri"/>
            </a:endParaRPr>
          </a:p>
          <a:p>
            <a:pPr marL="0" indent="0">
              <a:lnSpc>
                <a:spcPct val="105000"/>
              </a:lnSpc>
              <a:spcBef>
                <a:spcPts val="600"/>
              </a:spcBef>
              <a:buNone/>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strike="noStrike" spc="-1">
                <a:solidFill>
                  <a:srgbClr val="000000"/>
                </a:solidFill>
                <a:latin typeface="Times New Roman"/>
                <a:ea typeface="Times New Roman"/>
              </a:rPr>
              <a:t>[3] W. H. Inmon, Building the Data Warehouse, 4th ed. Wiley, 2005.</a:t>
            </a:r>
            <a:endParaRPr lang="en-US" sz="1600" b="0" strike="noStrike" spc="-1">
              <a:solidFill>
                <a:srgbClr val="000000"/>
              </a:solidFill>
              <a:latin typeface="Calibri"/>
            </a:endParaRPr>
          </a:p>
          <a:p>
            <a:pPr marL="0" indent="0">
              <a:lnSpc>
                <a:spcPct val="105000"/>
              </a:lnSpc>
              <a:spcBef>
                <a:spcPts val="600"/>
              </a:spcBef>
              <a:buNone/>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strike="noStrike" spc="-1">
                <a:solidFill>
                  <a:srgbClr val="000000"/>
                </a:solidFill>
                <a:latin typeface="Times New Roman"/>
                <a:ea typeface="Times New Roman"/>
              </a:rPr>
              <a:t>[4] S. Chaudhuri and U. Dayal, "An overview of data warehousing and OLAP technology," ACM SIGMOD Record, vol. 26, no. 1, pp. 65–74, 1997.</a:t>
            </a:r>
            <a:endParaRPr lang="en-US" sz="1600" b="0" strike="noStrike" spc="-1">
              <a:solidFill>
                <a:srgbClr val="000000"/>
              </a:solidFill>
              <a:latin typeface="Calibri"/>
            </a:endParaRPr>
          </a:p>
          <a:p>
            <a:pPr marL="0" indent="0">
              <a:lnSpc>
                <a:spcPct val="105000"/>
              </a:lnSpc>
              <a:spcBef>
                <a:spcPts val="600"/>
              </a:spcBef>
              <a:buNone/>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strike="noStrike" spc="-1">
                <a:solidFill>
                  <a:srgbClr val="000000"/>
                </a:solidFill>
                <a:latin typeface="Times New Roman"/>
                <a:ea typeface="Times New Roman"/>
              </a:rPr>
              <a:t>[5] E. F. Codd, S. B. Codd and C. T. Salley, "Providing OLAP to user-analysts: An IT mandate," Codd &amp; Associates, 1993.</a:t>
            </a:r>
            <a:endParaRPr lang="en-US" sz="1600" b="0" strike="noStrike" spc="-1">
              <a:solidFill>
                <a:srgbClr val="000000"/>
              </a:solidFill>
              <a:latin typeface="Calibri"/>
            </a:endParaRPr>
          </a:p>
          <a:p>
            <a:pPr marL="0" indent="0">
              <a:lnSpc>
                <a:spcPct val="105000"/>
              </a:lnSpc>
              <a:spcBef>
                <a:spcPts val="600"/>
              </a:spcBef>
              <a:buNone/>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strike="noStrike" spc="-1">
                <a:solidFill>
                  <a:srgbClr val="000000"/>
                </a:solidFill>
                <a:latin typeface="Times New Roman"/>
                <a:ea typeface="Times New Roman"/>
              </a:rPr>
              <a:t>[6] J. Gray et al., "Data cube: A relational aggregation operator generalizing group-by, cross-tab, and sub-totals," Data Mining and Knowledge Discovery, vol. 1, no. 1, pp. 29–53, 1997.</a:t>
            </a:r>
            <a:endParaRPr lang="en-US" sz="1600" b="0" strike="noStrike" spc="-1">
              <a:solidFill>
                <a:srgbClr val="000000"/>
              </a:solidFill>
              <a:latin typeface="Calibri"/>
            </a:endParaRPr>
          </a:p>
          <a:p>
            <a:pPr marL="0" indent="0">
              <a:lnSpc>
                <a:spcPct val="105000"/>
              </a:lnSpc>
              <a:spcBef>
                <a:spcPts val="600"/>
              </a:spcBef>
              <a:buNone/>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strike="noStrike" spc="-1">
                <a:solidFill>
                  <a:srgbClr val="000000"/>
                </a:solidFill>
                <a:latin typeface="Times New Roman"/>
                <a:ea typeface="Times New Roman"/>
              </a:rPr>
              <a:t>[7] H. Plattner, "A common database approach for OLTP and OLAP using an in-memory column database," in Proc. ACM SIGMOD, 2009.</a:t>
            </a:r>
            <a:endParaRPr lang="en-US" sz="1600" b="0" strike="noStrike" spc="-1">
              <a:solidFill>
                <a:srgbClr val="000000"/>
              </a:solidFill>
              <a:latin typeface="Calibri"/>
            </a:endParaRPr>
          </a:p>
        </p:txBody>
      </p:sp>
      <p:pic>
        <p:nvPicPr>
          <p:cNvPr id="122" name="image3.png" descr="C:\Users\ADMIN\AppData\Local\Microsoft\Windows\INetCache\Content.MSO\C29DB0A6.tmp"/>
          <p:cNvPicPr/>
          <p:nvPr/>
        </p:nvPicPr>
        <p:blipFill>
          <a:blip r:embed="rId3"/>
          <a:stretch/>
        </p:blipFill>
        <p:spPr>
          <a:xfrm>
            <a:off x="2924280" y="52560"/>
            <a:ext cx="5313240" cy="544320"/>
          </a:xfrm>
          <a:prstGeom prst="rect">
            <a:avLst/>
          </a:prstGeom>
          <a:ln w="0">
            <a:noFill/>
          </a:ln>
        </p:spPr>
      </p:pic>
      <p:sp>
        <p:nvSpPr>
          <p:cNvPr id="123" name="Date Placeholder 4"/>
          <p:cNvSpPr/>
          <p:nvPr/>
        </p:nvSpPr>
        <p:spPr>
          <a:xfrm>
            <a:off x="838080" y="6356520"/>
            <a:ext cx="274320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strike="noStrike" spc="-1">
                <a:solidFill>
                  <a:srgbClr val="898989"/>
                </a:solidFill>
                <a:latin typeface="Calibri"/>
              </a:rPr>
              <a:t>10/13/2026</a:t>
            </a:r>
            <a:endParaRPr lang="en-US" sz="1200" b="0" strike="noStrike" spc="-1">
              <a:solidFill>
                <a:srgbClr val="000000"/>
              </a:solidFill>
              <a:latin typeface="Calibri"/>
            </a:endParaRPr>
          </a:p>
        </p:txBody>
      </p:sp>
      <p:sp>
        <p:nvSpPr>
          <p:cNvPr id="124" name="Footer Placeholder 5"/>
          <p:cNvSpPr/>
          <p:nvPr/>
        </p:nvSpPr>
        <p:spPr>
          <a:xfrm>
            <a:off x="4038480" y="6356520"/>
            <a:ext cx="411480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strike="noStrike" spc="-1">
                <a:solidFill>
                  <a:srgbClr val="898989"/>
                </a:solidFill>
                <a:latin typeface="Calibri"/>
              </a:rPr>
              <a:t>DATA WAREHOUSING AND DATA MINING</a:t>
            </a:r>
            <a:endParaRPr lang="en-US" sz="1200" b="0" strike="noStrike" spc="-1">
              <a:solidFill>
                <a:srgbClr val="000000"/>
              </a:solidFill>
              <a:latin typeface="Calibri"/>
            </a:endParaRPr>
          </a:p>
        </p:txBody>
      </p:sp>
      <p:sp>
        <p:nvSpPr>
          <p:cNvPr id="125" name="Slide Number Placeholder 6"/>
          <p:cNvSpPr/>
          <p:nvPr/>
        </p:nvSpPr>
        <p:spPr>
          <a:xfrm>
            <a:off x="8610480" y="6356520"/>
            <a:ext cx="274320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rmAutofit/>
          </a:bodyPr>
          <a:lstStyle/>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43DFE5DA-BBC2-466D-ADF8-749FB20AEA85}" type="slidenum">
              <a:rPr lang="en-US" sz="1200" b="0" strike="noStrike" spc="-1">
                <a:solidFill>
                  <a:srgbClr val="898989"/>
                </a:solidFill>
                <a:latin typeface="Calibri"/>
              </a:rPr>
              <a:t>12</a:t>
            </a:fld>
            <a:endParaRPr lang="en-US" sz="1200" b="0" strike="noStrike" spc="-1">
              <a:solidFill>
                <a:srgbClr val="000000"/>
              </a:solidFill>
              <a:latin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7" name="image3.png" descr="C:\Users\ADMIN\AppData\Local\Microsoft\Windows\INetCache\Content.MSO\C29DB0A6.tmp"/>
          <p:cNvPicPr/>
          <p:nvPr/>
        </p:nvPicPr>
        <p:blipFill>
          <a:blip r:embed="rId3"/>
          <a:stretch/>
        </p:blipFill>
        <p:spPr>
          <a:xfrm>
            <a:off x="2924280" y="52560"/>
            <a:ext cx="5313240" cy="544320"/>
          </a:xfrm>
          <a:prstGeom prst="rect">
            <a:avLst/>
          </a:prstGeom>
          <a:ln w="0">
            <a:noFill/>
          </a:ln>
        </p:spPr>
      </p:pic>
      <p:sp>
        <p:nvSpPr>
          <p:cNvPr id="128" name="Date Placeholder 4"/>
          <p:cNvSpPr/>
          <p:nvPr/>
        </p:nvSpPr>
        <p:spPr>
          <a:xfrm>
            <a:off x="838080" y="6356520"/>
            <a:ext cx="274320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strike="noStrike" spc="-1">
                <a:solidFill>
                  <a:srgbClr val="898989"/>
                </a:solidFill>
                <a:latin typeface="Calibri"/>
              </a:rPr>
              <a:t>10/13/2026</a:t>
            </a:r>
            <a:endParaRPr lang="en-US" sz="1200" b="0" strike="noStrike" spc="-1">
              <a:solidFill>
                <a:srgbClr val="000000"/>
              </a:solidFill>
              <a:latin typeface="Calibri"/>
            </a:endParaRPr>
          </a:p>
        </p:txBody>
      </p:sp>
      <p:sp>
        <p:nvSpPr>
          <p:cNvPr id="129" name="Footer Placeholder 5"/>
          <p:cNvSpPr/>
          <p:nvPr/>
        </p:nvSpPr>
        <p:spPr>
          <a:xfrm>
            <a:off x="4038480" y="6356520"/>
            <a:ext cx="411480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strike="noStrike" spc="-1">
                <a:solidFill>
                  <a:srgbClr val="898989"/>
                </a:solidFill>
                <a:latin typeface="Calibri"/>
              </a:rPr>
              <a:t>DATA WAREHOUSING AND DATA MINING</a:t>
            </a:r>
            <a:endParaRPr lang="en-US" sz="1200" b="0" strike="noStrike" spc="-1">
              <a:solidFill>
                <a:srgbClr val="000000"/>
              </a:solidFill>
              <a:latin typeface="Calibri"/>
            </a:endParaRPr>
          </a:p>
        </p:txBody>
      </p:sp>
      <p:sp>
        <p:nvSpPr>
          <p:cNvPr id="130" name="Slide Number Placeholder 6"/>
          <p:cNvSpPr/>
          <p:nvPr/>
        </p:nvSpPr>
        <p:spPr>
          <a:xfrm>
            <a:off x="8610480" y="6356520"/>
            <a:ext cx="274320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rmAutofit/>
          </a:bodyPr>
          <a:lstStyle/>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5C5BB7B8-D933-4420-ACAE-00186D2A8893}" type="slidenum">
              <a:rPr lang="en-US" sz="1200" b="0" strike="noStrike" spc="-1">
                <a:solidFill>
                  <a:srgbClr val="898989"/>
                </a:solidFill>
                <a:latin typeface="Calibri"/>
              </a:rPr>
              <a:t>13</a:t>
            </a:fld>
            <a:endParaRPr lang="en-US" sz="1200" b="0" strike="noStrike" spc="-1">
              <a:solidFill>
                <a:srgbClr val="000000"/>
              </a:solidFill>
              <a:latin typeface="Calibri"/>
            </a:endParaRPr>
          </a:p>
        </p:txBody>
      </p:sp>
      <p:pic>
        <p:nvPicPr>
          <p:cNvPr id="3" name="Picture 2">
            <a:extLst>
              <a:ext uri="{FF2B5EF4-FFF2-40B4-BE49-F238E27FC236}">
                <a16:creationId xmlns:a16="http://schemas.microsoft.com/office/drawing/2014/main" id="{BA9420F4-DE70-7153-85C0-5E68924A48A1}"/>
              </a:ext>
            </a:extLst>
          </p:cNvPr>
          <p:cNvPicPr>
            <a:picLocks noChangeAspect="1"/>
          </p:cNvPicPr>
          <p:nvPr/>
        </p:nvPicPr>
        <p:blipFill>
          <a:blip r:embed="rId4"/>
          <a:stretch>
            <a:fillRect/>
          </a:stretch>
        </p:blipFill>
        <p:spPr>
          <a:xfrm>
            <a:off x="3744411" y="878161"/>
            <a:ext cx="4114799" cy="5373147"/>
          </a:xfrm>
          <a:prstGeom prst="rect">
            <a:avLst/>
          </a:prstGeom>
        </p:spPr>
      </p:pic>
    </p:spTree>
  </p:cSld>
  <p:clrMapOvr>
    <a:masterClrMapping/>
  </p:clrMapOvr>
</p:sld>
</file>

<file path=ppt/theme/theme1.xml><?xml version="1.0" encoding="utf-8"?>
<a:theme xmlns:a="http://schemas.openxmlformats.org/drawingml/2006/main"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130</TotalTime>
  <Words>1945</Words>
  <Application>Microsoft Office PowerPoint</Application>
  <PresentationFormat>Custom</PresentationFormat>
  <Paragraphs>268</Paragraphs>
  <Slides>13</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Calibri Light</vt:lpstr>
      <vt:lpstr>Courier New</vt:lpstr>
      <vt:lpstr>Times New Roman</vt:lpstr>
      <vt:lpstr>Office</vt:lpstr>
      <vt:lpstr>OPERATIONAL SYSTEMS vs DECISION SUPPORT SYSTEMS (OLTP vs OLAP)</vt:lpstr>
      <vt:lpstr>AGENDA </vt:lpstr>
      <vt:lpstr>INTRODUCTION</vt:lpstr>
      <vt:lpstr>OPERATIONAL SYSTEMS (OLTP)</vt:lpstr>
      <vt:lpstr>DECISION SUPPORT SYSTEMS (OLAP)</vt:lpstr>
      <vt:lpstr>KEY DIFFERENCES: OLTP vs OLAP</vt:lpstr>
      <vt:lpstr>PERFORMANCE COMPARISON</vt:lpstr>
      <vt:lpstr>ARCHITECTURE: OPERATIONAL SYSTEMS TO DSS</vt:lpstr>
      <vt:lpstr>STEP-BY-STEP DATA FLOW</vt:lpstr>
      <vt:lpstr>USE-CASE SCENARIOS</vt:lpstr>
      <vt:lpstr>OLTP vs OLAP QUERIES</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PRADEEP kumaR</cp:lastModifiedBy>
  <cp:revision>4</cp:revision>
  <dcterms:modified xsi:type="dcterms:W3CDTF">2026-10-20T02:46:13Z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2025-03-26T04:06:15Z</dcterms:created>
  <dc:creator>win10</dc:creator>
  <dc:description/>
  <dc:language>en-US</dc:language>
  <cp:lastModifiedBy>Admin</cp:lastModifiedBy>
  <dcterms:modified xsi:type="dcterms:W3CDTF">2026-10-10T03:40:04Z</dcterms:modified>
  <cp:revision>19</cp:revision>
  <dc:subject/>
  <dc:title>TITLE OF THE PROJECT</dc:title>
</cp:coreProperties>
</file>