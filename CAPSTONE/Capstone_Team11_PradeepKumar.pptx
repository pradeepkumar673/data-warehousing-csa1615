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-1" id="{610C09CB-924D-DFC6-A4BC-A518AD771D59}">
          <p14:sldIdLst>
            <p14:sldId id="256"/>
          </p14:sldIdLst>
        </p14:section>
        <p14:section name="Capstone" id="{0E2A9788-F785-B9AC-65D5-A59D279B6A4F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892B"/>
    <a:srgbClr val="2E7D6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140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 title.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first, then why data helps, then four objectives mapped to course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sources are merged into one warehouse table. Confirm the Kaggle dataset columns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right: sources, preprocessing, warehouse, mining, output. The numbered pills below are the work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Classification predicts the risk class; clustering finds congestion groups; evaluation measures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 benefits, what the project delivers, and what comes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6936" y="54864"/>
            <a:ext cx="5312664" cy="544068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4" name="Text 0"/>
          <p:cNvSpPr txBox="1"/>
          <p:nvPr/>
        </p:nvSpPr>
        <p:spPr>
          <a:xfrm>
            <a:off x="3840480" y="64739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CAPSTONE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448" y="274320"/>
            <a:ext cx="7315200" cy="9418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rgbClr val="7A1F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0" y="411480"/>
            <a:ext cx="5422392" cy="685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457200"/>
            <a:ext cx="5239512" cy="53583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40080" y="2405679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TEMPLE AND FESTIVAL CROWD-SURGE PREDICTOR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280186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2"/>
                </a:solidFill>
              </a:rPr>
              <a:t>Using Data Warehousing and Data Mining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2167128" y="3383280"/>
            <a:ext cx="78638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/>
              <a:t>S. PRADEEPKUMAR</a:t>
            </a:r>
            <a:endParaRPr lang="en-US" sz="26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800" dirty="0"/>
              <a:t>REGISTER NO.  192425016   |   TEAM 11</a:t>
            </a:r>
            <a:endParaRPr lang="en-US" sz="2600" dirty="0"/>
          </a:p>
          <a:p>
            <a:pPr marL="0" indent="0" algn="ctr">
              <a:buNone/>
            </a:pPr>
            <a:r>
              <a:rPr lang="en-US" sz="1600" b="1" dirty="0"/>
              <a:t>CSA1615  DATA WAREHOUSING AND DATA MINING</a:t>
            </a:r>
            <a:endParaRPr lang="en-US" sz="2600" dirty="0"/>
          </a:p>
          <a:p>
            <a:pPr marL="0" indent="0" algn="ctr">
              <a:buNone/>
            </a:pPr>
            <a:r>
              <a:rPr lang="en-US" sz="1400" dirty="0"/>
              <a:t>Course Faculty: Dr. Terrance Frederick Fernandez, Professor, SIMATS Engineering, SIMATS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PROBLEM, INTRODUCTION AND OBJECTIVES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150876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/>
              <a:t>PROBLEM  Temple authorities cannot predict festival crowd surges in advance, because the needed data is scattered and never analysed for patterns.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INTRODUCTION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2004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Festivals and weekends bring sudden, very large footfall to temples.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Narrow gates and queues create bottlenecks, and warnings come too late.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 warehousing stores all crowd data in one place; data mining predicts risk and finds patterns.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760720" y="27432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OBJECTIVES</a:t>
            </a:r>
            <a:endParaRPr lang="en-US" sz="1800" dirty="0"/>
          </a:p>
        </p:txBody>
      </p:sp>
      <p:sp>
        <p:nvSpPr>
          <p:cNvPr id="9" name="num"/>
          <p:cNvSpPr/>
          <p:nvPr/>
        </p:nvSpPr>
        <p:spPr>
          <a:xfrm>
            <a:off x="5760720" y="320040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60720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320040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Build a unified data warehouse</a:t>
            </a:r>
            <a:endParaRPr lang="en-US" sz="1500" dirty="0"/>
          </a:p>
        </p:txBody>
      </p:sp>
      <p:sp>
        <p:nvSpPr>
          <p:cNvPr id="12" name="CO tag"/>
          <p:cNvSpPr/>
          <p:nvPr/>
        </p:nvSpPr>
        <p:spPr>
          <a:xfrm>
            <a:off x="10561320" y="3273552"/>
            <a:ext cx="987552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561320" y="3273552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CO2</a:t>
            </a:r>
            <a:endParaRPr lang="en-US" sz="1100" dirty="0"/>
          </a:p>
        </p:txBody>
      </p:sp>
      <p:sp>
        <p:nvSpPr>
          <p:cNvPr id="14" name="num"/>
          <p:cNvSpPr/>
          <p:nvPr/>
        </p:nvSpPr>
        <p:spPr>
          <a:xfrm>
            <a:off x="5760720" y="3822192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760720" y="3822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382219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Classify crowd risk: Low / Medium / High</a:t>
            </a:r>
            <a:endParaRPr lang="en-US" sz="1500" dirty="0"/>
          </a:p>
        </p:txBody>
      </p:sp>
      <p:sp>
        <p:nvSpPr>
          <p:cNvPr id="17" name="CO tag"/>
          <p:cNvSpPr/>
          <p:nvPr/>
        </p:nvSpPr>
        <p:spPr>
          <a:xfrm>
            <a:off x="10561320" y="3895344"/>
            <a:ext cx="987552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561320" y="3895344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CO3</a:t>
            </a:r>
            <a:endParaRPr lang="en-US" sz="1100" dirty="0"/>
          </a:p>
        </p:txBody>
      </p:sp>
      <p:sp>
        <p:nvSpPr>
          <p:cNvPr id="19" name="num"/>
          <p:cNvSpPr/>
          <p:nvPr/>
        </p:nvSpPr>
        <p:spPr>
          <a:xfrm>
            <a:off x="5760720" y="4443984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760720" y="44439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4443984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Cluster congestion patterns of time slots</a:t>
            </a:r>
            <a:endParaRPr lang="en-US" sz="1500" dirty="0"/>
          </a:p>
        </p:txBody>
      </p:sp>
      <p:sp>
        <p:nvSpPr>
          <p:cNvPr id="22" name="CO tag"/>
          <p:cNvSpPr/>
          <p:nvPr/>
        </p:nvSpPr>
        <p:spPr>
          <a:xfrm>
            <a:off x="10561320" y="4517136"/>
            <a:ext cx="987552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561320" y="4517136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CO4</a:t>
            </a:r>
            <a:endParaRPr lang="en-US" sz="1100" dirty="0"/>
          </a:p>
        </p:txBody>
      </p:sp>
      <p:sp>
        <p:nvSpPr>
          <p:cNvPr id="24" name="num"/>
          <p:cNvSpPr/>
          <p:nvPr/>
        </p:nvSpPr>
        <p:spPr>
          <a:xfrm>
            <a:off x="5760720" y="5065776"/>
            <a:ext cx="475488" cy="47548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760720" y="50657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0" y="506577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Visualize and send early surge alerts</a:t>
            </a:r>
            <a:endParaRPr lang="en-US" sz="1500" dirty="0"/>
          </a:p>
        </p:txBody>
      </p:sp>
      <p:sp>
        <p:nvSpPr>
          <p:cNvPr id="27" name="CO tag"/>
          <p:cNvSpPr/>
          <p:nvPr/>
        </p:nvSpPr>
        <p:spPr>
          <a:xfrm>
            <a:off x="10561320" y="5138928"/>
            <a:ext cx="987552" cy="32918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0561320" y="5138928"/>
            <a:ext cx="987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CO3, CO4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822960" y="5852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6B"/>
                </a:solidFill>
              </a:rPr>
              <a:t>SDG 3  Good Health &amp; Well-Being</a:t>
            </a:r>
            <a:endParaRPr lang="en-US" sz="1400" dirty="0">
              <a:solidFill>
                <a:srgbClr val="2E7D6B"/>
              </a:solidFill>
            </a:endParaRPr>
          </a:p>
        </p:txBody>
      </p:sp>
      <p:sp>
        <p:nvSpPr>
          <p:cNvPr id="32" name="Text 29"/>
          <p:cNvSpPr txBox="1"/>
          <p:nvPr/>
        </p:nvSpPr>
        <p:spPr>
          <a:xfrm>
            <a:off x="6400800" y="5852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892B"/>
                </a:solidFill>
              </a:rPr>
              <a:t>SDG 11  Sustainable Cities &amp; Communities</a:t>
            </a:r>
            <a:endParaRPr lang="en-US" sz="1400" dirty="0">
              <a:solidFill>
                <a:srgbClr val="E8892B"/>
              </a:solidFill>
            </a:endParaRPr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DATASET TO BE USED</a:t>
            </a:r>
            <a:endParaRPr lang="en-US" sz="3000" dirty="0"/>
          </a:p>
        </p:txBody>
      </p:sp>
      <p:graphicFrame>
        <p:nvGraphicFramePr>
          <p:cNvPr id="4" name="datase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6949440" cy="40690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F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1B17"/>
                          </a:solidFill>
                        </a:rPr>
                        <a:t>Crowd benchmark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</a:rPr>
                        <a:t>Public Hajj &amp; Umrah Crowd Management dataset (Kaggle): Low / Medium / High density labels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</a:rPr>
                        <a:t>Training labels and base features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1B17"/>
                          </a:solidFill>
                        </a:rPr>
                        <a:t>Weather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</a:rPr>
                        <a:t>Temperature and rainfall from Open-Meteo or IMD for the temple's city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</a:rPr>
                        <a:t>Weather impact on crowd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1B17"/>
                          </a:solidFill>
                        </a:rPr>
                        <a:t>Festival calendar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</a:rPr>
                        <a:t>Festival dates and sizes from the temple or HR&amp;CE calendar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</a:rPr>
                        <a:t>Weekday / weekend / festival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B1B17"/>
                          </a:solidFill>
                        </a:rPr>
                        <a:t>Ticketing &amp; transport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</a:rPr>
                        <a:t>Tickets booked and bus / train arrivals per time slot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B1B17"/>
                          </a:solidFill>
                        </a:rPr>
                        <a:t>Demand signals for surges</a:t>
                      </a:r>
                      <a:endParaRPr lang="en-US" sz="1300" dirty="0"/>
                    </a:p>
                  </a:txBody>
                  <a:tcPr anchor="ctr">
                    <a:lnL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CF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13816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PLANNED FEATURES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8138160" y="21031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Hour of day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Day type and festival scale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Tickets booked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Transport arrivals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Temperature and rainfall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Previous-period footfall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824396" y="4114800"/>
            <a:ext cx="30318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/>
              <a:t>TARGET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b="1" dirty="0"/>
              <a:t>Crowd risk: Low / Medium / High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/>
              <a:t>Preprocessing: cleaning, integration, transformation and reduction (CO2).   Split: 80% training, 20% testing.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PROPOSED METHODOLOGY – ARCHITECTURE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9436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1. DATA SOURCES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288036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2. PREPROCESSING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16636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3. DATA WAREHOUSE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4. DATA MINING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738360" y="15087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5. OUTPUT</a:t>
            </a:r>
            <a:endParaRPr lang="en-US" sz="1300" dirty="0"/>
          </a:p>
        </p:txBody>
      </p:sp>
      <p:sp>
        <p:nvSpPr>
          <p:cNvPr id="9" name="source 0"/>
          <p:cNvSpPr/>
          <p:nvPr/>
        </p:nvSpPr>
        <p:spPr>
          <a:xfrm>
            <a:off x="594360" y="1965960"/>
            <a:ext cx="182880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685800" y="2057400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0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361" y="2153961"/>
            <a:ext cx="245791" cy="24579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16152" y="1965960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Ticketing</a:t>
            </a:r>
            <a:endParaRPr lang="en-US" sz="1400" dirty="0"/>
          </a:p>
        </p:txBody>
      </p:sp>
      <p:sp>
        <p:nvSpPr>
          <p:cNvPr id="13" name="source 1"/>
          <p:cNvSpPr/>
          <p:nvPr/>
        </p:nvSpPr>
        <p:spPr>
          <a:xfrm>
            <a:off x="594360" y="2679192"/>
            <a:ext cx="182880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685800" y="2770632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1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361" y="2867193"/>
            <a:ext cx="245791" cy="24579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16152" y="2679192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Transport</a:t>
            </a:r>
            <a:endParaRPr lang="en-US" sz="1400" dirty="0"/>
          </a:p>
        </p:txBody>
      </p:sp>
      <p:sp>
        <p:nvSpPr>
          <p:cNvPr id="17" name="source 2"/>
          <p:cNvSpPr/>
          <p:nvPr/>
        </p:nvSpPr>
        <p:spPr>
          <a:xfrm>
            <a:off x="594360" y="3392424"/>
            <a:ext cx="182880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685800" y="3483864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Image 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361" y="3580425"/>
            <a:ext cx="245791" cy="24579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16152" y="3392424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Weather</a:t>
            </a:r>
            <a:endParaRPr lang="en-US" sz="1400" dirty="0"/>
          </a:p>
        </p:txBody>
      </p:sp>
      <p:sp>
        <p:nvSpPr>
          <p:cNvPr id="21" name="source 3"/>
          <p:cNvSpPr/>
          <p:nvPr/>
        </p:nvSpPr>
        <p:spPr>
          <a:xfrm>
            <a:off x="594360" y="4105656"/>
            <a:ext cx="1828800" cy="621792"/>
          </a:xfrm>
          <a:prstGeom prst="roundRect">
            <a:avLst>
              <a:gd name="adj" fmla="val 176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685800" y="4197096"/>
            <a:ext cx="438912" cy="43891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3" name="Image 3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361" y="4293657"/>
            <a:ext cx="245791" cy="24579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16152" y="4105656"/>
            <a:ext cx="1188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Past events</a:t>
            </a:r>
            <a:endParaRPr lang="en-US" sz="1400" dirty="0"/>
          </a:p>
        </p:txBody>
      </p:sp>
      <p:sp>
        <p:nvSpPr>
          <p:cNvPr id="25" name="prep"/>
          <p:cNvSpPr/>
          <p:nvPr/>
        </p:nvSpPr>
        <p:spPr>
          <a:xfrm>
            <a:off x="2880360" y="1965960"/>
            <a:ext cx="1828800" cy="28346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19"/>
          <p:cNvSpPr txBox="1"/>
          <p:nvPr/>
        </p:nvSpPr>
        <p:spPr>
          <a:xfrm>
            <a:off x="2880360" y="1965960"/>
            <a:ext cx="1828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Cleaning</a:t>
            </a:r>
            <a:endParaRPr lang="en-US" sz="15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Integration</a:t>
            </a:r>
            <a:endParaRPr lang="en-US" sz="15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Transformation</a:t>
            </a:r>
            <a:endParaRPr lang="en-US" sz="15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Reduction</a:t>
            </a:r>
            <a:endParaRPr lang="en-US" sz="1500" dirty="0"/>
          </a:p>
        </p:txBody>
      </p:sp>
      <p:sp>
        <p:nvSpPr>
          <p:cNvPr id="27" name="warehouse"/>
          <p:cNvSpPr/>
          <p:nvPr/>
        </p:nvSpPr>
        <p:spPr>
          <a:xfrm>
            <a:off x="5166360" y="1965960"/>
            <a:ext cx="1828800" cy="2834640"/>
          </a:xfrm>
          <a:prstGeom prst="roundRect">
            <a:avLst>
              <a:gd name="adj" fmla="val 6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8" name="Image 4" descr="databas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331720"/>
            <a:ext cx="731520" cy="73152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257800" y="32004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Unified dataset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One clean, central store</a:t>
            </a:r>
            <a:endParaRPr lang="en-US" sz="1500" dirty="0"/>
          </a:p>
        </p:txBody>
      </p:sp>
      <p:sp>
        <p:nvSpPr>
          <p:cNvPr id="30" name="mining 0"/>
          <p:cNvSpPr/>
          <p:nvPr/>
        </p:nvSpPr>
        <p:spPr>
          <a:xfrm>
            <a:off x="7452360" y="1965960"/>
            <a:ext cx="1828800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3"/>
          <p:cNvSpPr txBox="1"/>
          <p:nvPr/>
        </p:nvSpPr>
        <p:spPr>
          <a:xfrm>
            <a:off x="7543800" y="196596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Classification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DT, RF, Naive Bayes</a:t>
            </a:r>
            <a:endParaRPr lang="en-US" sz="1600" dirty="0"/>
          </a:p>
        </p:txBody>
      </p:sp>
      <p:sp>
        <p:nvSpPr>
          <p:cNvPr id="32" name="mining 1"/>
          <p:cNvSpPr/>
          <p:nvPr/>
        </p:nvSpPr>
        <p:spPr>
          <a:xfrm>
            <a:off x="7452360" y="3429000"/>
            <a:ext cx="1828800" cy="1371600"/>
          </a:xfrm>
          <a:prstGeom prst="roundRect">
            <a:avLst>
              <a:gd name="adj" fmla="val 8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25"/>
          <p:cNvSpPr txBox="1"/>
          <p:nvPr/>
        </p:nvSpPr>
        <p:spPr>
          <a:xfrm>
            <a:off x="7543800" y="3429000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Clustering</a:t>
            </a:r>
            <a:endParaRPr lang="en-US" sz="16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1"/>
                </a:solidFill>
              </a:rPr>
              <a:t>K-Means, Hierarchical</a:t>
            </a:r>
            <a:endParaRPr lang="en-US" sz="1600" dirty="0"/>
          </a:p>
        </p:txBody>
      </p:sp>
      <p:sp>
        <p:nvSpPr>
          <p:cNvPr id="34" name="output"/>
          <p:cNvSpPr/>
          <p:nvPr/>
        </p:nvSpPr>
        <p:spPr>
          <a:xfrm>
            <a:off x="9738360" y="1965960"/>
            <a:ext cx="1828800" cy="283464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icon circle"/>
          <p:cNvSpPr/>
          <p:nvPr/>
        </p:nvSpPr>
        <p:spPr>
          <a:xfrm>
            <a:off x="10287000" y="219456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6" name="Image 5" descr="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7934" y="2355494"/>
            <a:ext cx="409651" cy="409651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829800" y="310896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Dashboard</a:t>
            </a:r>
            <a:endParaRPr lang="en-US" sz="1500" dirty="0"/>
          </a:p>
          <a:p>
            <a:pPr marL="0" indent="0" algn="ctr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Safety alerts</a:t>
            </a:r>
            <a:endParaRPr lang="en-US" sz="1500" dirty="0"/>
          </a:p>
        </p:txBody>
      </p:sp>
      <p:sp>
        <p:nvSpPr>
          <p:cNvPr id="38" name="arrow 0"/>
          <p:cNvSpPr/>
          <p:nvPr/>
        </p:nvSpPr>
        <p:spPr>
          <a:xfrm>
            <a:off x="2478024" y="3108960"/>
            <a:ext cx="347472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9" name="arrow 1"/>
          <p:cNvSpPr/>
          <p:nvPr/>
        </p:nvSpPr>
        <p:spPr>
          <a:xfrm>
            <a:off x="4764024" y="3108960"/>
            <a:ext cx="347472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0" name="arrow 2"/>
          <p:cNvSpPr/>
          <p:nvPr/>
        </p:nvSpPr>
        <p:spPr>
          <a:xfrm>
            <a:off x="7050024" y="3108960"/>
            <a:ext cx="347472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1" name="arrow 3"/>
          <p:cNvSpPr/>
          <p:nvPr/>
        </p:nvSpPr>
        <p:spPr>
          <a:xfrm>
            <a:off x="9336024" y="3108960"/>
            <a:ext cx="347472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594360" y="4892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WORK STEPS</a:t>
            </a:r>
            <a:endParaRPr lang="en-US" sz="1400" dirty="0"/>
          </a:p>
        </p:txBody>
      </p:sp>
      <p:sp>
        <p:nvSpPr>
          <p:cNvPr id="43" name="step pill 0"/>
          <p:cNvSpPr/>
          <p:nvPr/>
        </p:nvSpPr>
        <p:spPr>
          <a:xfrm>
            <a:off x="594360" y="5257800"/>
            <a:ext cx="1719072" cy="868680"/>
          </a:xfrm>
          <a:prstGeom prst="roundRect">
            <a:avLst>
              <a:gd name="adj" fmla="val 12632"/>
            </a:avLst>
          </a:prstGeom>
          <a:solidFill>
            <a:srgbClr val="7A1F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94360" y="52578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Collect data</a:t>
            </a:r>
            <a:endParaRPr lang="en-US" sz="1800" dirty="0"/>
          </a:p>
        </p:txBody>
      </p:sp>
      <p:sp>
        <p:nvSpPr>
          <p:cNvPr id="45" name="step pill 1"/>
          <p:cNvSpPr/>
          <p:nvPr/>
        </p:nvSpPr>
        <p:spPr>
          <a:xfrm>
            <a:off x="2445106" y="5257800"/>
            <a:ext cx="1719072" cy="868680"/>
          </a:xfrm>
          <a:prstGeom prst="roundRect">
            <a:avLst>
              <a:gd name="adj" fmla="val 12632"/>
            </a:avLst>
          </a:prstGeom>
          <a:solidFill>
            <a:srgbClr val="E88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37"/>
          <p:cNvSpPr txBox="1"/>
          <p:nvPr/>
        </p:nvSpPr>
        <p:spPr>
          <a:xfrm>
            <a:off x="2445106" y="52578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Clean &amp; integrate</a:t>
            </a:r>
            <a:endParaRPr lang="en-US" sz="1800" dirty="0"/>
          </a:p>
        </p:txBody>
      </p:sp>
      <p:sp>
        <p:nvSpPr>
          <p:cNvPr id="47" name="step pill 2"/>
          <p:cNvSpPr/>
          <p:nvPr/>
        </p:nvSpPr>
        <p:spPr>
          <a:xfrm>
            <a:off x="4295851" y="5257800"/>
            <a:ext cx="1719072" cy="868680"/>
          </a:xfrm>
          <a:prstGeom prst="roundRect">
            <a:avLst>
              <a:gd name="adj" fmla="val 12632"/>
            </a:avLst>
          </a:prstGeom>
          <a:solidFill>
            <a:srgbClr val="2E7D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39"/>
          <p:cNvSpPr txBox="1"/>
          <p:nvPr/>
        </p:nvSpPr>
        <p:spPr>
          <a:xfrm>
            <a:off x="4295851" y="52578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Transform &amp; reduce</a:t>
            </a:r>
            <a:endParaRPr lang="en-US" sz="1800" dirty="0"/>
          </a:p>
        </p:txBody>
      </p:sp>
      <p:sp>
        <p:nvSpPr>
          <p:cNvPr id="49" name="step pill 3"/>
          <p:cNvSpPr/>
          <p:nvPr/>
        </p:nvSpPr>
        <p:spPr>
          <a:xfrm>
            <a:off x="6146597" y="5257800"/>
            <a:ext cx="1719072" cy="868680"/>
          </a:xfrm>
          <a:prstGeom prst="roundRect">
            <a:avLst>
              <a:gd name="adj" fmla="val 12632"/>
            </a:avLst>
          </a:prstGeom>
          <a:solidFill>
            <a:srgbClr val="1F5C9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6146597" y="52578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Classify risk</a:t>
            </a:r>
            <a:endParaRPr lang="en-US" sz="1800" dirty="0"/>
          </a:p>
        </p:txBody>
      </p:sp>
      <p:sp>
        <p:nvSpPr>
          <p:cNvPr id="51" name="step pill 4"/>
          <p:cNvSpPr/>
          <p:nvPr/>
        </p:nvSpPr>
        <p:spPr>
          <a:xfrm>
            <a:off x="7997342" y="5257800"/>
            <a:ext cx="1719072" cy="868680"/>
          </a:xfrm>
          <a:prstGeom prst="roundRect">
            <a:avLst>
              <a:gd name="adj" fmla="val 12632"/>
            </a:avLst>
          </a:prstGeom>
          <a:solidFill>
            <a:srgbClr val="7A1F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3"/>
          <p:cNvSpPr txBox="1"/>
          <p:nvPr/>
        </p:nvSpPr>
        <p:spPr>
          <a:xfrm>
            <a:off x="7997342" y="52578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Cluster patterns</a:t>
            </a:r>
            <a:endParaRPr lang="en-US" sz="1800" dirty="0"/>
          </a:p>
        </p:txBody>
      </p:sp>
      <p:sp>
        <p:nvSpPr>
          <p:cNvPr id="53" name="step pill 5"/>
          <p:cNvSpPr/>
          <p:nvPr/>
        </p:nvSpPr>
        <p:spPr>
          <a:xfrm>
            <a:off x="9848088" y="5257800"/>
            <a:ext cx="1719072" cy="868680"/>
          </a:xfrm>
          <a:prstGeom prst="roundRect">
            <a:avLst>
              <a:gd name="adj" fmla="val 12632"/>
            </a:avLst>
          </a:prstGeom>
          <a:solidFill>
            <a:srgbClr val="E88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45"/>
          <p:cNvSpPr txBox="1"/>
          <p:nvPr/>
        </p:nvSpPr>
        <p:spPr>
          <a:xfrm>
            <a:off x="9848088" y="5257800"/>
            <a:ext cx="1719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Visualize &amp; alert</a:t>
            </a:r>
            <a:endParaRPr lang="en-US" sz="18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ALGORITHMS TO BE USED</a:t>
            </a:r>
            <a:endParaRPr lang="en-US" sz="3000" dirty="0"/>
          </a:p>
        </p:txBody>
      </p:sp>
      <p:sp>
        <p:nvSpPr>
          <p:cNvPr id="4" name="algo card 0"/>
          <p:cNvSpPr/>
          <p:nvPr/>
        </p:nvSpPr>
        <p:spPr>
          <a:xfrm>
            <a:off x="640080" y="1554480"/>
            <a:ext cx="3429000" cy="4572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col head 0"/>
          <p:cNvSpPr/>
          <p:nvPr/>
        </p:nvSpPr>
        <p:spPr>
          <a:xfrm>
            <a:off x="822960" y="1737360"/>
            <a:ext cx="306324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37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CLASSIFICATION (CO3)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423160"/>
            <a:ext cx="2880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7A1F2B"/>
                </a:solidFill>
              </a:rPr>
              <a:t>Decision Tree</a:t>
            </a:r>
            <a:endParaRPr lang="en-US" sz="20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Splits data by simple yes/no rules; easy to explain.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7A1F2B"/>
                </a:solidFill>
              </a:rPr>
              <a:t>Random Forest</a:t>
            </a:r>
            <a:endParaRPr lang="en-US" sz="20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Many trees vote together; usually more accurate and stable.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7A1F2B"/>
                </a:solidFill>
              </a:rPr>
              <a:t>Naive Bayes</a:t>
            </a:r>
            <a:endParaRPr lang="en-US" sz="20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Fast probability-based model; a quick baseline.</a:t>
            </a:r>
            <a:endParaRPr lang="en-US" sz="2000" dirty="0"/>
          </a:p>
        </p:txBody>
      </p:sp>
      <p:sp>
        <p:nvSpPr>
          <p:cNvPr id="8" name="algo card 1"/>
          <p:cNvSpPr/>
          <p:nvPr/>
        </p:nvSpPr>
        <p:spPr>
          <a:xfrm>
            <a:off x="4389120" y="1554480"/>
            <a:ext cx="3429000" cy="4572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col head 1"/>
          <p:cNvSpPr/>
          <p:nvPr/>
        </p:nvSpPr>
        <p:spPr>
          <a:xfrm>
            <a:off x="4572000" y="1737360"/>
            <a:ext cx="3063240" cy="502920"/>
          </a:xfrm>
          <a:prstGeom prst="roundRect">
            <a:avLst>
              <a:gd name="adj" fmla="val 218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0" y="1737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CLUSTERING (CO4)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423160"/>
            <a:ext cx="2880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7A1F2B"/>
                </a:solidFill>
              </a:rPr>
              <a:t>K-Means</a:t>
            </a:r>
            <a:endParaRPr lang="en-US" sz="20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Groups time slots into k clusters by similarity.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7A1F2B"/>
                </a:solidFill>
              </a:rPr>
              <a:t>Hierarchical</a:t>
            </a:r>
            <a:endParaRPr lang="en-US" sz="20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Builds a tree of clusters; shows how groups merge.</a:t>
            </a:r>
            <a:endParaRPr lang="en-US" sz="2000" dirty="0"/>
          </a:p>
        </p:txBody>
      </p:sp>
      <p:sp>
        <p:nvSpPr>
          <p:cNvPr id="12" name="algo card 2"/>
          <p:cNvSpPr/>
          <p:nvPr/>
        </p:nvSpPr>
        <p:spPr>
          <a:xfrm>
            <a:off x="8138160" y="1554480"/>
            <a:ext cx="3429000" cy="4572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col head 2"/>
          <p:cNvSpPr/>
          <p:nvPr/>
        </p:nvSpPr>
        <p:spPr>
          <a:xfrm>
            <a:off x="8321040" y="1737360"/>
            <a:ext cx="3063240" cy="502920"/>
          </a:xfrm>
          <a:prstGeom prst="roundRect">
            <a:avLst>
              <a:gd name="adj" fmla="val 21818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21040" y="1737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2423160"/>
            <a:ext cx="2880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7A1F2B"/>
                </a:solidFill>
              </a:rPr>
              <a:t>Classification</a:t>
            </a:r>
            <a:endParaRPr lang="en-US" sz="20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Accuracy, precision, recall, F1-score, confusion matrix.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7A1F2B"/>
                </a:solidFill>
              </a:rPr>
              <a:t>Clustering</a:t>
            </a:r>
            <a:endParaRPr lang="en-US" sz="20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Silhouette score to check cluster quality.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7A1F2B"/>
                </a:solidFill>
              </a:rPr>
              <a:t>Validation</a:t>
            </a:r>
            <a:endParaRPr lang="en-US" sz="2000" dirty="0"/>
          </a:p>
          <a:p>
            <a:pPr marL="0" indent="0">
              <a:spcAft>
                <a:spcPts val="1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80/20 train-test split.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5836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APPLICATIONS, CONCLUSION AND FUTURE SCOPE</a:t>
            </a:r>
            <a:endParaRPr lang="en-US" sz="3000" dirty="0"/>
          </a:p>
        </p:txBody>
      </p:sp>
      <p:sp>
        <p:nvSpPr>
          <p:cNvPr id="4" name="closing card 0"/>
          <p:cNvSpPr/>
          <p:nvPr/>
        </p:nvSpPr>
        <p:spPr>
          <a:xfrm>
            <a:off x="640080" y="1554480"/>
            <a:ext cx="3429000" cy="4572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head 0"/>
          <p:cNvSpPr/>
          <p:nvPr/>
        </p:nvSpPr>
        <p:spPr>
          <a:xfrm>
            <a:off x="822960" y="1737360"/>
            <a:ext cx="306324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737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APPLICATIONS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468880"/>
            <a:ext cx="2880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Temple administration: plan queues and gates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Police and traffic: deploy staff before the peak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Health teams: keep ambulances ready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Smart-city planning: transport and parking</a:t>
            </a:r>
            <a:endParaRPr lang="en-US" sz="1600" dirty="0"/>
          </a:p>
        </p:txBody>
      </p:sp>
      <p:sp>
        <p:nvSpPr>
          <p:cNvPr id="8" name="closing card 1"/>
          <p:cNvSpPr/>
          <p:nvPr/>
        </p:nvSpPr>
        <p:spPr>
          <a:xfrm>
            <a:off x="4389120" y="1554480"/>
            <a:ext cx="3429000" cy="4572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head 1"/>
          <p:cNvSpPr/>
          <p:nvPr/>
        </p:nvSpPr>
        <p:spPr>
          <a:xfrm>
            <a:off x="4572000" y="1737360"/>
            <a:ext cx="3063240" cy="502920"/>
          </a:xfrm>
          <a:prstGeom prst="roundRect">
            <a:avLst>
              <a:gd name="adj" fmla="val 2181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0" y="1737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EXPECTED OUTCOME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468880"/>
            <a:ext cx="2880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warehouse for all crowd data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Advance Low / Medium / High risk prediction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Clear congestion patterns across time slots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Early alerts supporting SDG 3 and SDG 11</a:t>
            </a:r>
            <a:endParaRPr lang="en-US" sz="1600" dirty="0"/>
          </a:p>
        </p:txBody>
      </p:sp>
      <p:sp>
        <p:nvSpPr>
          <p:cNvPr id="12" name="closing card 2"/>
          <p:cNvSpPr/>
          <p:nvPr/>
        </p:nvSpPr>
        <p:spPr>
          <a:xfrm>
            <a:off x="8138160" y="1554480"/>
            <a:ext cx="3429000" cy="4572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head 2"/>
          <p:cNvSpPr/>
          <p:nvPr/>
        </p:nvSpPr>
        <p:spPr>
          <a:xfrm>
            <a:off x="8321040" y="1737360"/>
            <a:ext cx="3063240" cy="502920"/>
          </a:xfrm>
          <a:prstGeom prst="roundRect">
            <a:avLst>
              <a:gd name="adj" fmla="val 218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321040" y="17373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FUTURE ENHANCEMENTS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2468880"/>
            <a:ext cx="2880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Real temple ticketing and transport data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Live CCTV / IoT crowd counters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Hourly forecasting with LSTM or ARIMA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SMS / app alerts to devotees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Extend to more temples and events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ple Crowd Predictor">
  <a:themeElements>
    <a:clrScheme name="Temple Crowd Predictor">
      <a:dk1>
        <a:srgbClr val="2B1B17"/>
      </a:dk1>
      <a:lt1>
        <a:srgbClr val="FFFFFF"/>
      </a:lt1>
      <a:dk2>
        <a:srgbClr val="7A1F2B"/>
      </a:dk2>
      <a:lt2>
        <a:srgbClr val="F8EDEA"/>
      </a:lt2>
      <a:accent1>
        <a:srgbClr val="7A1F2B"/>
      </a:accent1>
      <a:accent2>
        <a:srgbClr val="E8892B"/>
      </a:accent2>
      <a:accent3>
        <a:srgbClr val="C9A227"/>
      </a:accent3>
      <a:accent4>
        <a:srgbClr val="2E7D6B"/>
      </a:accent4>
      <a:accent5>
        <a:srgbClr val="C93C3C"/>
      </a:accent5>
      <a:accent6>
        <a:srgbClr val="1F5C99"/>
      </a:accent6>
      <a:hlink>
        <a:srgbClr val="1F5C99"/>
      </a:hlink>
      <a:folHlink>
        <a:srgbClr val="7A1F2B"/>
      </a:folHlink>
    </a:clrScheme>
    <a:fontScheme name="Temple Crowd Predict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668</Words>
  <Application>Microsoft Office PowerPoint</Application>
  <PresentationFormat>Widescreen</PresentationFormat>
  <Paragraphs>142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Temple Crowd Predictor</vt:lpstr>
      <vt:lpstr>PowerPoint Presentation</vt:lpstr>
      <vt:lpstr>PROBLEM, INTRODUCTION AND OBJECTIVES</vt:lpstr>
      <vt:lpstr>DATASET TO BE USED</vt:lpstr>
      <vt:lpstr>PROPOSED METHODOLOGY – ARCHITECTURE</vt:lpstr>
      <vt:lpstr>ALGORITHMS TO BE USED</vt:lpstr>
      <vt:lpstr>APPLICATIONS, CONCLUSION AND FUTURE SCOPE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Temple and Festival Crowd-Surge Predictor</dc:title>
  <dc:subject>PptxGenJS Presentation</dc:subject>
  <dc:creator>S. Pradeepkumar</dc:creator>
  <cp:lastModifiedBy>PRADEEP kumaR</cp:lastModifiedBy>
  <cp:revision>3</cp:revision>
  <dcterms:created xsi:type="dcterms:W3CDTF">2026-10-20T02:52:04Z</dcterms:created>
  <dcterms:modified xsi:type="dcterms:W3CDTF">2026-10-20T03:00:08Z</dcterms:modified>
</cp:coreProperties>
</file>